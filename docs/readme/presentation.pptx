
<file path=[Content_Types].xml><?xml version="1.0" encoding="utf-8"?>
<Types xmlns="http://schemas.openxmlformats.org/package/2006/content-types">
  <Default Extension="xml" ContentType="application/vnd.openxmlformats-package.core-properties+xml"/>
  <Default Extension="bin" ContentType="image/webp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ee6fd57c2b644d1" /><Relationship Type="http://schemas.openxmlformats.org/officeDocument/2006/relationships/extended-properties" Target="/docProps/app.xml" Id="Rdd919cc31aed477a" /><Relationship Type="http://schemas.openxmlformats.org/officeDocument/2006/relationships/officeDocument" Target="/ppt/presentation.xml" Id="R5e4574a90dbc465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9753f9b5291434e"/>
  </p:sldMasterIdLst>
  <p:notesMasterIdLst>
    <p:notesMasterId xmlns:r="http://schemas.openxmlformats.org/officeDocument/2006/relationships" r:id="R14a121c6290f436b"/>
  </p:notesMasterIdLst>
  <p:sldIdLst>
    <p:sldId xmlns:r="http://schemas.openxmlformats.org/officeDocument/2006/relationships" id="256" r:id="Rdf79fe6e0cf74ec7"/>
    <p:sldId xmlns:r="http://schemas.openxmlformats.org/officeDocument/2006/relationships" id="257" r:id="R330307784aa64caa"/>
    <p:sldId xmlns:r="http://schemas.openxmlformats.org/officeDocument/2006/relationships" id="258" r:id="Ra6c0069947994738"/>
    <p:sldId xmlns:r="http://schemas.openxmlformats.org/officeDocument/2006/relationships" id="259" r:id="R794a9f02e1a942e5"/>
    <p:sldId xmlns:r="http://schemas.openxmlformats.org/officeDocument/2006/relationships" id="260" r:id="R3b68b9df5d83478b"/>
    <p:sldId xmlns:r="http://schemas.openxmlformats.org/officeDocument/2006/relationships" id="261" r:id="R8750794d8eee439a"/>
    <p:sldId xmlns:r="http://schemas.openxmlformats.org/officeDocument/2006/relationships" id="262" r:id="R895833710ffd43cb"/>
    <p:sldId xmlns:r="http://schemas.openxmlformats.org/officeDocument/2006/relationships" id="263" r:id="R7aca682da9c446c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620ebfd50be47c8" /><Relationship Type="http://schemas.openxmlformats.org/officeDocument/2006/relationships/slideMaster" Target="/ppt/slideMasters/slideMaster1.xml" Id="Rb9753f9b5291434e" /><Relationship Type="http://schemas.openxmlformats.org/officeDocument/2006/relationships/notesMaster" Target="/ppt/notesMasters/notesMaster1.xml" Id="R14a121c6290f436b" /><Relationship Type="http://schemas.openxmlformats.org/officeDocument/2006/relationships/presProps" Target="/ppt/presProps.xml" Id="R90fd6bc4c9f24248" /><Relationship Type="http://schemas.openxmlformats.org/officeDocument/2006/relationships/tableStyles" Target="/ppt/tableStyles.xml" Id="Rfbe6bb78244c4293" /><Relationship Type="http://schemas.openxmlformats.org/officeDocument/2006/relationships/slide" Target="/ppt/slides/slide1.xml" Id="Rdf79fe6e0cf74ec7" /><Relationship Type="http://schemas.openxmlformats.org/officeDocument/2006/relationships/slide" Target="/ppt/slides/slide2.xml" Id="R330307784aa64caa" /><Relationship Type="http://schemas.openxmlformats.org/officeDocument/2006/relationships/slide" Target="/ppt/slides/slide3.xml" Id="Ra6c0069947994738" /><Relationship Type="http://schemas.openxmlformats.org/officeDocument/2006/relationships/slide" Target="/ppt/slides/slide4.xml" Id="R794a9f02e1a942e5" /><Relationship Type="http://schemas.openxmlformats.org/officeDocument/2006/relationships/slide" Target="/ppt/slides/slide5.xml" Id="R3b68b9df5d83478b" /><Relationship Type="http://schemas.openxmlformats.org/officeDocument/2006/relationships/slide" Target="/ppt/slides/slide6.xml" Id="R8750794d8eee439a" /><Relationship Type="http://schemas.openxmlformats.org/officeDocument/2006/relationships/slide" Target="/ppt/slides/slide7.xml" Id="R895833710ffd43cb" /><Relationship Type="http://schemas.openxmlformats.org/officeDocument/2006/relationships/slide" Target="/ppt/slides/slide8.xml" Id="R7aca682da9c446c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1ea0b66bf1e471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04d461024ad4511" /><Relationship Type="http://schemas.openxmlformats.org/officeDocument/2006/relationships/notesMaster" Target="/ppt/notesMasters/notesMaster1.xml" Id="Rfaae910e788043f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2ac8c922c494126" /><Relationship Type="http://schemas.openxmlformats.org/officeDocument/2006/relationships/notesMaster" Target="/ppt/notesMasters/notesMaster1.xml" Id="R7ba6a9191c69405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dfa5f178ef54589" /><Relationship Type="http://schemas.openxmlformats.org/officeDocument/2006/relationships/notesMaster" Target="/ppt/notesMasters/notesMaster1.xml" Id="R3a4300d9401a4a2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706081e16c2469a" /><Relationship Type="http://schemas.openxmlformats.org/officeDocument/2006/relationships/notesMaster" Target="/ppt/notesMasters/notesMaster1.xml" Id="R0370d1005297470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a6f56b917ca40a5" /><Relationship Type="http://schemas.openxmlformats.org/officeDocument/2006/relationships/notesMaster" Target="/ppt/notesMasters/notesMaster1.xml" Id="R7d2f9a9c747346b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4968ed05ccc4aae" /><Relationship Type="http://schemas.openxmlformats.org/officeDocument/2006/relationships/notesMaster" Target="/ppt/notesMasters/notesMaster1.xml" Id="R0cc43d607cde4d0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e9417b98bd244f6" /><Relationship Type="http://schemas.openxmlformats.org/officeDocument/2006/relationships/notesMaster" Target="/ppt/notesMasters/notesMaster1.xml" Id="R2b1afa7a959140c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f1f15c73f6b4ff4" /><Relationship Type="http://schemas.openxmlformats.org/officeDocument/2006/relationships/notesMaster" Target="/ppt/notesMasters/notesMaster1.xml" Id="R1602773fbf1a45e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DESIGN.md; src/data/meta.js; docs/SOURCE_REVIEW.md.</a:t>
            </a:r>
          </a:p>
          <a:p xmlns:a="http://schemas.openxmlformats.org/drawingml/2006/main">
            <a:r>
              <a:t>Изображение: public/images/artwork/hero-ribbon-expanded-1152-optimized.webp, локальный авторский artwork проекта.</a:t>
            </a:r>
          </a:p>
          <a:p xmlns:a="http://schemas.openxmlformats.org/drawingml/2006/main">
            <a:r>
              <a:t>Знак: public/images/brand/trainer-abstract-256-optimized.webp.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README.md, раздел «Что это»; docs/SOURCE_REVIEW.md, раздел 1.</a:t>
            </a:r>
          </a:p>
          <a:p xmlns:a="http://schemas.openxmlformats.org/drawingml/2006/main">
            <a:r>
              <a:t>Ограничение: все задания авторские, проект не является официальным банком Яндекса.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src/data/meta.js, массив LEVELS; docs/CONTENT_CONTRACT.md.</a:t>
            </a:r>
          </a:p>
          <a:p xmlns:a="http://schemas.openxmlformats.org/drawingml/2006/main">
            <a:r>
              <a:t>Изображения: public/images/artwork/level-1-foundations-512-optimized.webp, level-2-application-512-optimized.webp, level-3-expert-512-optimized.webp.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src/data/meta.js, массив DOMAINS; docs/SOURCE_REVIEW.md, раздел 1.</a:t>
            </a:r>
          </a:p>
          <a:p xmlns:a="http://schemas.openxmlformats.org/drawingml/2006/main">
            <a:r>
              <a:t>Доли программы приблизительные и обозначены знаком «~». В банке 6 × 30 = 180 заданий; каждый домен получает по 10 заданий на уровень.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src/core/exam.js (evaluate, submitAnswer, scoreAttempt); src/components/questions.js; docs/CONTENT_CONTRACT.md.</a:t>
            </a:r>
          </a:p>
          <a:p xmlns:a="http://schemas.openxmlformats.org/drawingml/2006/main">
            <a:r>
              <a:t>Неверный ответ не получает частичный балл. Режим «Ошибки» строится из сохранённых результатов.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src/core/exam.js (scoreAttempt); src/data/meta.js (TRAINING_TARGET = 80); docs/SOURCE_REVIEW.md.</a:t>
            </a:r>
          </a:p>
          <a:p xmlns:a="http://schemas.openxmlformats.org/drawingml/2006/main">
            <a:r>
              <a:t>Пример 47/60 = 78,3% показывает арифметику; он не относится к конкретному ученику.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src/core/storage.js (storageKey, readState, writeState, import/export validation); README.md, раздел «Сохранение прогресса».</a:t>
            </a:r>
          </a:p>
          <a:p xmlns:a="http://schemas.openxmlformats.org/drawingml/2006/main">
            <a:r>
              <a:t>Ограничение: localStorage зависит от настроек браузера и origin. Несовместимая версия банка защищается без автоматической миграции.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package.json; README.md, разделы «Сборка и другие команды» и «Устройство проекта»; src/main.js; src/components; src/core.</a:t>
            </a:r>
          </a:p>
          <a:p xmlns:a="http://schemas.openxmlformats.org/drawingml/2006/main">
            <a:r>
              <a:t>Команды: npm ci, npm run dev, npm run check. Публикация выполняется GitHub Actions из .github/workflows/pages.yml.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6afd3433ce44e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04693fffb7467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1abfc62197418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c61c6b19624c1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0d21f799154bc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9987dbe0904e0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6B563D4-2345-4724-8CD7-4F1AD13FB50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8F516FD-88C3-4BB9-B071-8FAF7AEE859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9E6398F-57A9-4DA8-A2FB-7F8730D15E9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76192DB-6C78-4D85-ADBE-2B97BD8C84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4A172B2-AFAF-44D6-B392-EE14DECCCF0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43C59C2-0C3D-4C78-8FF0-8F7C35B2342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C53B613-428B-4FA7-AEC4-9739DA1666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22085D1-AB62-43AF-8D98-1A4DB859483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4B87446-EF44-4AA3-B5D0-DB2E4E660D4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3D48BDD-3732-4CAC-870E-E8902F8D7FE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08a921d1da641f0" /><Relationship Type="http://schemas.openxmlformats.org/officeDocument/2006/relationships/slideLayout" Target="/ppt/slideLayouts/slideLayout1.xml" Id="R358fb169ad834fe7" /><Relationship Type="http://schemas.openxmlformats.org/officeDocument/2006/relationships/slideLayout" Target="/ppt/slideLayouts/slideLayout2.xml" Id="Rbf2689a832c74f30" /><Relationship Type="http://schemas.openxmlformats.org/officeDocument/2006/relationships/slideLayout" Target="/ppt/slideLayouts/slideLayout3.xml" Id="R27a274e5696349d0" /><Relationship Type="http://schemas.openxmlformats.org/officeDocument/2006/relationships/slideLayout" Target="/ppt/slideLayouts/slideLayout4.xml" Id="R93ffca5b81ed4cf9" /><Relationship Type="http://schemas.openxmlformats.org/officeDocument/2006/relationships/slideLayout" Target="/ppt/slideLayouts/slideLayout5.xml" Id="Rd77fbeddb4554ff5" /><Relationship Type="http://schemas.openxmlformats.org/officeDocument/2006/relationships/slideLayout" Target="/ppt/slideLayouts/slideLayout6.xml" Id="R4b2f8c48e07146b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58fb169ad834fe7"/>
    <p:sldLayoutId xmlns:r="http://schemas.openxmlformats.org/officeDocument/2006/relationships" id="2147483650" r:id="Rbf2689a832c74f30"/>
    <p:sldLayoutId xmlns:r="http://schemas.openxmlformats.org/officeDocument/2006/relationships" id="2147483651" r:id="R27a274e5696349d0"/>
    <p:sldLayoutId xmlns:r="http://schemas.openxmlformats.org/officeDocument/2006/relationships" id="2147483652" r:id="R93ffca5b81ed4cf9"/>
    <p:sldLayoutId xmlns:r="http://schemas.openxmlformats.org/officeDocument/2006/relationships" id="2147483653" r:id="Rd77fbeddb4554ff5"/>
    <p:sldLayoutId xmlns:r="http://schemas.openxmlformats.org/officeDocument/2006/relationships" id="2147483654" r:id="R4b2f8c48e07146b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5ea54e5f044567" /><Relationship Type="http://schemas.openxmlformats.org/officeDocument/2006/relationships/image" Target="/ppt/media/image.bin" Id="R6d15f28318234d3a" /><Relationship Type="http://schemas.openxmlformats.org/officeDocument/2006/relationships/image" Target="/ppt/media/image2.bin" Id="Re38807e3961d47e6" /><Relationship Type="http://schemas.openxmlformats.org/officeDocument/2006/relationships/notesSlide" Target="/ppt/notesSlides/notesSlide1.xml" Id="Ra790e178c3a24b8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aef47159db4f6b" /><Relationship Type="http://schemas.openxmlformats.org/officeDocument/2006/relationships/image" Target="/ppt/media/image3.bin" Id="R7442998b2f8147ed" /><Relationship Type="http://schemas.openxmlformats.org/officeDocument/2006/relationships/notesSlide" Target="/ppt/notesSlides/notesSlide2.xml" Id="R6b121eeee2cc4f7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8f3f38599744cf" /><Relationship Type="http://schemas.openxmlformats.org/officeDocument/2006/relationships/image" Target="/ppt/media/image4.bin" Id="R9b8fdd82ac0d41c5" /><Relationship Type="http://schemas.openxmlformats.org/officeDocument/2006/relationships/image" Target="/ppt/media/image5.bin" Id="R151673eeab46436d" /><Relationship Type="http://schemas.openxmlformats.org/officeDocument/2006/relationships/image" Target="/ppt/media/image6.bin" Id="R142b5a1485254951" /><Relationship Type="http://schemas.openxmlformats.org/officeDocument/2006/relationships/notesSlide" Target="/ppt/notesSlides/notesSlide3.xml" Id="R8bb5141ab5a54cb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ff9fdd9f0a427d" /><Relationship Type="http://schemas.openxmlformats.org/officeDocument/2006/relationships/notesSlide" Target="/ppt/notesSlides/notesSlide4.xml" Id="Rac6f9ec1a678475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c94e808d1841d8" /><Relationship Type="http://schemas.openxmlformats.org/officeDocument/2006/relationships/notesSlide" Target="/ppt/notesSlides/notesSlide5.xml" Id="R05d394b2a75a434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6783a500604a11" /><Relationship Type="http://schemas.openxmlformats.org/officeDocument/2006/relationships/notesSlide" Target="/ppt/notesSlides/notesSlide6.xml" Id="R1b43256dde73495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5f2d2075f644fe" /><Relationship Type="http://schemas.openxmlformats.org/officeDocument/2006/relationships/notesSlide" Target="/ppt/notesSlides/notesSlide7.xml" Id="Ra8f102f61c9c449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22265b6c584089" /><Relationship Type="http://schemas.openxmlformats.org/officeDocument/2006/relationships/notesSlide" Target="/ppt/notesSlides/notesSlide8.xml" Id="Re7d4676f76584bb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15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8DD6DF-3726-4A21-A253-0851F2234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5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8A3900-5770-4C45-8ACA-40DF27C20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286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C2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57F6CD-B050-4235-B27A-4032D978920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15f28318234d3a"/>
          <a:srcRect xmlns:a="http://schemas.openxmlformats.org/drawingml/2006/main" l="22685" t="0" r="2268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72250" y="0"/>
            <a:ext cx="5619750" cy="68580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B2E103-C9D4-4E32-911D-F0FFFB7BD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17151D"/>
              </a:gs>
              <a:gs pos="61000">
                <a:srgbClr val="17151D">
                  <a:alpha val="80000"/>
                </a:srgbClr>
              </a:gs>
              <a:gs pos="100000">
                <a:srgbClr val="17151D">
                  <a:alpha val="0"/>
                </a:srgbClr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E4E3D8-E6DA-417C-9F1E-2B582516936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8807e3961d47e6"/>
          <a:stretch xmlns:a="http://schemas.openxmlformats.org/drawingml/2006/main"/>
        </p:blipFill>
        <p:spPr>
          <a:xfrm xmlns:a="http://schemas.openxmlformats.org/drawingml/2006/main">
            <a:off x="685800" y="514350"/>
            <a:ext cx="552450" cy="552450"/>
          </a:xfrm>
          <a:prstGeom xmlns:a="http://schemas.openxmlformats.org/drawingml/2006/main" prst="ellipse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302E9C-D9D1-4915-9F2D-03676C586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C5A8F2"/>
                </a:solidFill>
                <a:latin typeface="Unbounded"/>
                <a:ea typeface="Unbounded"/>
                <a:cs typeface="Unbounded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C5A8F2"/>
                </a:solidFill>
                <a:latin typeface="Unbounded"/>
                <a:ea typeface="Unbounded"/>
                <a:cs typeface="Unbounded"/>
              </a:defRPr>
            </a:pPr>
            <a:r>
              <a:rPr sz="975" b="1">
                <a:solidFill>
                  <a:srgbClr val="C5A8F2"/>
                </a:solidFill>
                <a:latin typeface="Unbounded"/>
                <a:ea typeface="Unbounded"/>
                <a:cs typeface="Unbounded"/>
              </a:rPr>
              <a:t>YANDEX AI STUDIO · САМОСТОЯТЕЛЬНАЯ ПРАКТИКА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9198E8-1C89-4C98-8B6D-BE829F778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533400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3900" b="1">
                <a:solidFill>
                  <a:srgbClr val="FFFFFF"/>
                </a:solidFill>
                <a:latin typeface="Unbounded"/>
                <a:ea typeface="Unbounded"/>
                <a:cs typeface="Unbounded"/>
              </a:defRPr>
            </a:defPPr>
          </a:lstStyle>
          <a:p xmlns:a="http://schemas.openxmlformats.org/drawingml/2006/main">
            <a:pPr algn="l">
              <a:lnSpc>
                <a:spcPct val="94000"/>
              </a:lnSpc>
              <a:buNone/>
              <a:defRPr sz="3900" b="1">
                <a:solidFill>
                  <a:srgbClr val="FFFFFF"/>
                </a:solidFill>
                <a:latin typeface="Unbounded"/>
                <a:ea typeface="Unbounded"/>
                <a:cs typeface="Unbounded"/>
              </a:defRPr>
            </a:pPr>
            <a:r>
              <a:rPr sz="3900" b="1">
                <a:solidFill>
                  <a:srgbClr val="FFFFFF"/>
                </a:solidFill>
                <a:latin typeface="Unbounded"/>
                <a:ea typeface="Unbounded"/>
                <a:cs typeface="Unbounded"/>
              </a:rPr>
              <a:t>Тренажёр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3900" b="1">
                <a:solidFill>
                  <a:srgbClr val="FFFFFF"/>
                </a:solidFill>
                <a:latin typeface="Unbounded"/>
                <a:ea typeface="Unbounded"/>
                <a:cs typeface="Unbounded"/>
              </a:defRPr>
            </a:pPr>
            <a:r>
              <a:rPr sz="3900" b="1">
                <a:solidFill>
                  <a:srgbClr val="FFFFFF"/>
                </a:solidFill>
                <a:latin typeface="Unbounded"/>
                <a:ea typeface="Unbounded"/>
                <a:cs typeface="Unbounded"/>
              </a:rPr>
              <a:t>компетенций ИИ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F7C7AB-2ACF-479C-8ACA-390E16E33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481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F2ED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F2EDF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2EDF8"/>
                </a:solidFill>
                <a:latin typeface="Arial"/>
                <a:ea typeface="Arial"/>
                <a:cs typeface="Arial"/>
              </a:rPr>
              <a:t>180 авторских заданий · 3 уровня · 6 доменов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EA1652-9947-4CD6-AD72-E28F3758F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91050"/>
            <a:ext cx="2190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9DC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14B373-41FB-4240-B3F7-111B16520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57725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6841A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6841A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841AB"/>
                </a:solidFill>
                <a:latin typeface="Arial"/>
                <a:ea typeface="Arial"/>
                <a:cs typeface="Arial"/>
              </a:rPr>
              <a:t>Локальное веб-приложение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656758-0892-4FAA-912C-DED925F5C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591050"/>
            <a:ext cx="6858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6EF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A90158-FACC-407B-BE4A-E240B21BD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65772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005B6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005B6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5B64"/>
                </a:solidFill>
                <a:latin typeface="Arial"/>
                <a:ea typeface="Arial"/>
                <a:cs typeface="Arial"/>
              </a:rPr>
              <a:t>MIT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935A11-6AB5-4CF7-BFAB-54D6FC3A1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9590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B9B0C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B9B0C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9B0C5"/>
                </a:solidFill>
                <a:latin typeface="Arial"/>
                <a:ea typeface="Arial"/>
                <a:cs typeface="Arial"/>
              </a:rPr>
              <a:t>Практика перед экзаменом «Основы работы с ИИ»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B7CAAB-6C83-4CC7-97FA-D6440B3D2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2293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B9B0C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B9B0C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9B0C5"/>
                </a:solidFill>
                <a:latin typeface="Arial"/>
                <a:ea typeface="Arial"/>
                <a:cs typeface="Arial"/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183563052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97062C-2B67-4167-B558-54C1A2617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"/>
          </a:bodyPr>
          <a:lstStyle xmlns:a="http://schemas.openxmlformats.org/drawingml/2006/main">
            <a:defPPr algn="l">
              <a:defRPr sz="975" b="1">
                <a:solidFill>
                  <a:srgbClr val="6841AB"/>
                </a:solidFill>
                <a:latin typeface="Unbounded"/>
                <a:ea typeface="Unbounded"/>
                <a:cs typeface="Unbounded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6841AB"/>
                </a:solidFill>
                <a:latin typeface="Unbounded"/>
                <a:ea typeface="Unbounded"/>
                <a:cs typeface="Unbounded"/>
              </a:defRPr>
            </a:pPr>
            <a:r>
              <a:rPr sz="975" b="1">
                <a:solidFill>
                  <a:srgbClr val="6841AB"/>
                </a:solidFill>
                <a:latin typeface="Unbounded"/>
                <a:ea typeface="Unbounded"/>
                <a:cs typeface="Unbounded"/>
              </a:rPr>
              <a:t>ЗАЧЕМ ОН НУЖЕН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5FE07F-26C8-42C0-BF82-07A99734D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7239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25212B"/>
                </a:solidFill>
                <a:latin typeface="Unbounded"/>
                <a:ea typeface="Unbounded"/>
                <a:cs typeface="Unbounded"/>
              </a:defRPr>
            </a:defPPr>
          </a:lstStyle>
          <a:p xmlns:a="http://schemas.openxmlformats.org/drawingml/2006/main">
            <a:pPr algn="l">
              <a:lnSpc>
                <a:spcPct val="96000"/>
              </a:lnSpc>
              <a:buNone/>
              <a:defRPr sz="3150" b="1">
                <a:solidFill>
                  <a:srgbClr val="25212B"/>
                </a:solidFill>
                <a:latin typeface="Unbounded"/>
                <a:ea typeface="Unbounded"/>
                <a:cs typeface="Unbounded"/>
              </a:defRPr>
            </a:pPr>
            <a:r>
              <a:rPr sz="3150" b="1">
                <a:solidFill>
                  <a:srgbClr val="25212B"/>
                </a:solidFill>
                <a:latin typeface="Unbounded"/>
                <a:ea typeface="Unbounded"/>
                <a:cs typeface="Unbounded"/>
              </a:rPr>
              <a:t>Подготовка, которую можно запустить сразу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9666A1-B440-42AF-AC44-9BF392D02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5810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689"/>
          </a:bodyPr>
          <a:lstStyle xmlns:a="http://schemas.openxmlformats.org/drawingml/2006/main">
            <a:defPPr algn="l">
              <a:defRPr sz="1650" b="0">
                <a:solidFill>
                  <a:srgbClr val="6863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68636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8636F"/>
                </a:solidFill>
                <a:latin typeface="Arial"/>
                <a:ea typeface="Arial"/>
                <a:cs typeface="Arial"/>
              </a:rPr>
              <a:t>Приложение собирает учебную практику в одном локальном интерфейсе. Оно помогает пройти вопросы, увидеть разбор и вернуться к ошибкам без аккаунта и сервера.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E3AE8A-C178-4BEE-9916-707D0C490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4762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41AB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FE3CA9-9527-4AF9-A0D7-AB86BA70D65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42998b2f8147ed"/>
          <a:stretch xmlns:a="http://schemas.openxmlformats.org/drawingml/2006/main"/>
        </p:blipFill>
        <p:spPr>
          <a:xfrm xmlns:a="http://schemas.openxmlformats.org/drawingml/2006/main">
            <a:off x="990600" y="3028950"/>
            <a:ext cx="876300" cy="876300"/>
          </a:xfrm>
          <a:prstGeom xmlns:a="http://schemas.openxmlformats.org/drawingml/2006/main" prst="ellipse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2EE502-6642-4377-95CF-CF93CCD0F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1623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6841AB"/>
                </a:solidFill>
                <a:latin typeface="Unbounded"/>
                <a:ea typeface="Unbounded"/>
                <a:cs typeface="Unbounded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6841AB"/>
                </a:solidFill>
                <a:latin typeface="Unbounded"/>
                <a:ea typeface="Unbounded"/>
                <a:cs typeface="Unbounded"/>
              </a:defRPr>
            </a:pPr>
            <a:r>
              <a:rPr sz="975" b="1">
                <a:solidFill>
                  <a:srgbClr val="6841AB"/>
                </a:solidFill>
                <a:latin typeface="Unbounded"/>
                <a:ea typeface="Unbounded"/>
                <a:cs typeface="Unbounded"/>
              </a:rPr>
              <a:t>ЛОКАЛЬНЫЙ КОНТУР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4E17BD-992E-42BA-AFF5-54C6C0BCD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52425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25212B"/>
                </a:solidFill>
                <a:latin typeface="Unbounded"/>
                <a:ea typeface="Unbounded"/>
                <a:cs typeface="Unbounded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25212B"/>
                </a:solidFill>
                <a:latin typeface="Unbounded"/>
                <a:ea typeface="Unbounded"/>
                <a:cs typeface="Unbounded"/>
              </a:defRPr>
            </a:pPr>
            <a:r>
              <a:rPr sz="1650" b="1">
                <a:solidFill>
                  <a:srgbClr val="25212B"/>
                </a:solidFill>
                <a:latin typeface="Unbounded"/>
                <a:ea typeface="Unbounded"/>
                <a:cs typeface="Unbounded"/>
              </a:rPr>
              <a:t>Открыть → ответить → разобрать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A74B78-41B3-4C72-BDF2-4AE6A23D0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00050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6863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8636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8636F"/>
                </a:solidFill>
                <a:latin typeface="Arial"/>
                <a:ea typeface="Arial"/>
                <a:cs typeface="Arial"/>
              </a:rPr>
              <a:t>Статический сайт запускается без аккаунта и сервера. Попытки остаются в браузере ученика.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0BFF1A-B03E-4FA6-A068-E6F88C30B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9527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6841AB"/>
                </a:solidFill>
                <a:latin typeface="Unbounded"/>
                <a:ea typeface="Unbounded"/>
                <a:cs typeface="Unbounded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6841AB"/>
                </a:solidFill>
                <a:latin typeface="Unbounded"/>
                <a:ea typeface="Unbounded"/>
                <a:cs typeface="Unbounded"/>
              </a:defRPr>
            </a:pPr>
            <a:r>
              <a:rPr sz="1125" b="1">
                <a:solidFill>
                  <a:srgbClr val="6841AB"/>
                </a:solidFill>
                <a:latin typeface="Unbounded"/>
                <a:ea typeface="Unbounded"/>
                <a:cs typeface="Unbounded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1A0EED-6CAF-43C1-B9E1-8D2D65D5B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933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25212B"/>
                </a:solidFill>
                <a:latin typeface="Unbounded"/>
                <a:ea typeface="Unbounded"/>
                <a:cs typeface="Unbounded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25212B"/>
                </a:solidFill>
                <a:latin typeface="Unbounded"/>
                <a:ea typeface="Unbounded"/>
                <a:cs typeface="Unbounded"/>
              </a:defRPr>
            </a:pPr>
            <a:r>
              <a:rPr sz="1500" b="1">
                <a:solidFill>
                  <a:srgbClr val="25212B"/>
                </a:solidFill>
                <a:latin typeface="Unbounded"/>
                <a:ea typeface="Unbounded"/>
                <a:cs typeface="Unbounded"/>
              </a:rPr>
              <a:t>Запустить уровень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C3BE04-DE55-440B-98DE-29A7B2FB7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2766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6863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8636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8636F"/>
                </a:solidFill>
                <a:latin typeface="Arial"/>
                <a:ea typeface="Arial"/>
                <a:cs typeface="Arial"/>
              </a:rPr>
              <a:t>Выбрать базовый, продвинутый или экспертный маршрут из готового банка.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4DB4D3-2FDB-4B92-A1DF-5C01DE766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695700"/>
            <a:ext cx="28575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D9D4E0"/>
          </a:solidFill>
          <a:ln xmlns:a="http://schemas.openxmlformats.org/drawingml/2006/main" w="9525">
            <a:solidFill>
              <a:srgbClr val="D9D4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AB07D4-B7EA-454E-82B5-414F883C6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7909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6841AB"/>
                </a:solidFill>
                <a:latin typeface="Unbounded"/>
                <a:ea typeface="Unbounded"/>
                <a:cs typeface="Unbounded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6841AB"/>
                </a:solidFill>
                <a:latin typeface="Unbounded"/>
                <a:ea typeface="Unbounded"/>
                <a:cs typeface="Unbounded"/>
              </a:defRPr>
            </a:pPr>
            <a:r>
              <a:rPr sz="1125" b="1">
                <a:solidFill>
                  <a:srgbClr val="6841AB"/>
                </a:solidFill>
                <a:latin typeface="Unbounded"/>
                <a:ea typeface="Unbounded"/>
                <a:cs typeface="Unbounded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3E5F04-3001-4E8D-8E30-B81CB16DB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7719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25212B"/>
                </a:solidFill>
                <a:latin typeface="Unbounded"/>
                <a:ea typeface="Unbounded"/>
                <a:cs typeface="Unbounded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25212B"/>
                </a:solidFill>
                <a:latin typeface="Unbounded"/>
                <a:ea typeface="Unbounded"/>
                <a:cs typeface="Unbounded"/>
              </a:defRPr>
            </a:pPr>
            <a:r>
              <a:rPr sz="1500" b="1">
                <a:solidFill>
                  <a:srgbClr val="25212B"/>
                </a:solidFill>
                <a:latin typeface="Unbounded"/>
                <a:ea typeface="Unbounded"/>
                <a:cs typeface="Unbounded"/>
              </a:rPr>
              <a:t>Отправить ответ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03798C-A29C-44AD-A328-5C7EAC26A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1148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6863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8636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8636F"/>
                </a:solidFill>
                <a:latin typeface="Arial"/>
                <a:ea typeface="Arial"/>
                <a:cs typeface="Arial"/>
              </a:rPr>
              <a:t>Проверить вопрос и сразу получить балл, объяснение и разбор вариантов.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DA79D5-DDAC-4B08-B84F-BD688232A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533900"/>
            <a:ext cx="28575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D9D4E0"/>
          </a:solidFill>
          <a:ln xmlns:a="http://schemas.openxmlformats.org/drawingml/2006/main" w="9525">
            <a:solidFill>
              <a:srgbClr val="D9D4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247ECA-0167-4C3A-A3D0-6859BE250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6291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6841AB"/>
                </a:solidFill>
                <a:latin typeface="Unbounded"/>
                <a:ea typeface="Unbounded"/>
                <a:cs typeface="Unbounded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6841AB"/>
                </a:solidFill>
                <a:latin typeface="Unbounded"/>
                <a:ea typeface="Unbounded"/>
                <a:cs typeface="Unbounded"/>
              </a:defRPr>
            </a:pPr>
            <a:r>
              <a:rPr sz="1125" b="1">
                <a:solidFill>
                  <a:srgbClr val="6841AB"/>
                </a:solidFill>
                <a:latin typeface="Unbounded"/>
                <a:ea typeface="Unbounded"/>
                <a:cs typeface="Unbounded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DD589E-3042-4903-9A0B-9F63B4624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6101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25212B"/>
                </a:solidFill>
                <a:latin typeface="Unbounded"/>
                <a:ea typeface="Unbounded"/>
                <a:cs typeface="Unbounded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25212B"/>
                </a:solidFill>
                <a:latin typeface="Unbounded"/>
                <a:ea typeface="Unbounded"/>
                <a:cs typeface="Unbounded"/>
              </a:defRPr>
            </a:pPr>
            <a:r>
              <a:rPr sz="1500" b="1">
                <a:solidFill>
                  <a:srgbClr val="25212B"/>
                </a:solidFill>
                <a:latin typeface="Unbounded"/>
                <a:ea typeface="Unbounded"/>
                <a:cs typeface="Unbounded"/>
              </a:rPr>
              <a:t>Вернуться к ошибкам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41C3D0-D348-46A1-BB51-5C95FEC3B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9530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6863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8636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8636F"/>
                </a:solidFill>
                <a:latin typeface="Arial"/>
                <a:ea typeface="Arial"/>
                <a:cs typeface="Arial"/>
              </a:rPr>
              <a:t>Открыть историю попыток и повторить то, что ещё не стало навыком.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8A91BA-FED4-4C09-9D44-FAC466E9E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10001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9DC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776C2A-68ED-4803-9D00-2788E7C66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0"/>
            <a:ext cx="9658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017"/>
          </a:bodyPr>
          <a:lstStyle xmlns:a="http://schemas.openxmlformats.org/drawingml/2006/main">
            <a:defPPr algn="ctr">
              <a:defRPr sz="1125" b="1">
                <a:solidFill>
                  <a:srgbClr val="6841A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6841A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841AB"/>
                </a:solidFill>
                <a:latin typeface="Arial"/>
                <a:ea typeface="Arial"/>
                <a:cs typeface="Arial"/>
              </a:rPr>
              <a:t>Граница проекта: авторский учебный банк помогает тренироваться, но не копирует официальный экзамен и не обещает проходной балл.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452CDD-C294-4130-95C7-1F6599232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825" b="0">
                <a:solidFill>
                  <a:srgbClr val="6863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68636F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8636F"/>
                </a:solidFill>
                <a:latin typeface="Arial"/>
                <a:ea typeface="Arial"/>
                <a:cs typeface="Arial"/>
              </a:rPr>
              <a:t>Тренажёр компетенций ИИ  ·  02</a:t>
            </a:r>
          </a:p>
        </p:txBody>
      </p:sp>
    </p:spTree>
    <p:extLst>
      <p:ext uri="{BB962C8B-B14F-4D97-AF65-F5344CB8AC3E}">
        <p14:creationId xmlns:p14="http://schemas.microsoft.com/office/powerpoint/2010/main" val="13307718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0ED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B249F3-C407-420E-9C3A-64C18857C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"/>
          </a:bodyPr>
          <a:lstStyle xmlns:a="http://schemas.openxmlformats.org/drawingml/2006/main">
            <a:defPPr algn="l">
              <a:defRPr sz="975" b="1">
                <a:solidFill>
                  <a:srgbClr val="6841AB"/>
                </a:solidFill>
                <a:latin typeface="Unbounded"/>
                <a:ea typeface="Unbounded"/>
                <a:cs typeface="Unbounded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6841AB"/>
                </a:solidFill>
                <a:latin typeface="Unbounded"/>
                <a:ea typeface="Unbounded"/>
                <a:cs typeface="Unbounded"/>
              </a:defRPr>
            </a:pPr>
            <a:r>
              <a:rPr sz="975" b="1">
                <a:solidFill>
                  <a:srgbClr val="6841AB"/>
                </a:solidFill>
                <a:latin typeface="Unbounded"/>
                <a:ea typeface="Unbounded"/>
                <a:cs typeface="Unbounded"/>
              </a:rPr>
              <a:t>УЧЕБНАЯ ЛЕСТНИЦА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DCCD23-6EDA-4B38-8651-B2BE16D5F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7239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25212B"/>
                </a:solidFill>
                <a:latin typeface="Unbounded"/>
                <a:ea typeface="Unbounded"/>
                <a:cs typeface="Unbounded"/>
              </a:defRPr>
            </a:defPPr>
          </a:lstStyle>
          <a:p xmlns:a="http://schemas.openxmlformats.org/drawingml/2006/main">
            <a:pPr algn="l">
              <a:lnSpc>
                <a:spcPct val="96000"/>
              </a:lnSpc>
              <a:buNone/>
              <a:defRPr sz="3150" b="1">
                <a:solidFill>
                  <a:srgbClr val="25212B"/>
                </a:solidFill>
                <a:latin typeface="Unbounded"/>
                <a:ea typeface="Unbounded"/>
                <a:cs typeface="Unbounded"/>
              </a:defRPr>
            </a:pPr>
            <a:r>
              <a:rPr sz="3150" b="1">
                <a:solidFill>
                  <a:srgbClr val="25212B"/>
                </a:solidFill>
                <a:latin typeface="Unbounded"/>
                <a:ea typeface="Unbounded"/>
                <a:cs typeface="Unbounded"/>
              </a:rPr>
              <a:t>Три уровня по 60 вопросов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9CA12C-7518-4D08-A6DF-A9851DB81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2400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8607"/>
          </a:bodyPr>
          <a:lstStyle xmlns:a="http://schemas.openxmlformats.org/drawingml/2006/main">
            <a:defPPr algn="l">
              <a:defRPr sz="1500" b="0">
                <a:solidFill>
                  <a:srgbClr val="6863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68636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8636F"/>
                </a:solidFill>
                <a:latin typeface="Arial"/>
                <a:ea typeface="Arial"/>
                <a:cs typeface="Arial"/>
              </a:rPr>
              <a:t>Каждый уровень покрывает все шесть доменов. Меняется сложность ситуации, а не объём банка.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05F3F6-4BE2-4D46-8315-C8A733904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3143250" cy="32194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E6EFA9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AEACF4-326B-4D16-8EFD-1AEBBAF88DD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8fdd82ac0d41c5"/>
          <a:stretch xmlns:a="http://schemas.openxmlformats.org/drawingml/2006/main"/>
        </p:blipFill>
        <p:spPr>
          <a:xfrm xmlns:a="http://schemas.openxmlformats.org/drawingml/2006/main">
            <a:off x="1590675" y="2400300"/>
            <a:ext cx="1333500" cy="1333500"/>
          </a:xfrm>
          <a:prstGeom xmlns:a="http://schemas.openxmlformats.org/drawingml/2006/main" prst="ellipse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29DECB-B672-4F13-A9D6-0E8F13010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86200"/>
            <a:ext cx="2628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206"/>
          </a:bodyPr>
          <a:lstStyle xmlns:a="http://schemas.openxmlformats.org/drawingml/2006/main">
            <a:defPPr algn="ctr">
              <a:defRPr sz="1800" b="1">
                <a:solidFill>
                  <a:srgbClr val="465C16"/>
                </a:solidFill>
                <a:latin typeface="Unbounded"/>
                <a:ea typeface="Unbounded"/>
                <a:cs typeface="Unbounded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465C16"/>
                </a:solidFill>
                <a:latin typeface="Unbounded"/>
                <a:ea typeface="Unbounded"/>
                <a:cs typeface="Unbounded"/>
              </a:defRPr>
            </a:pPr>
            <a:r>
              <a:rPr sz="1800" b="1">
                <a:solidFill>
                  <a:srgbClr val="465C16"/>
                </a:solidFill>
                <a:latin typeface="Unbounded"/>
                <a:ea typeface="Unbounded"/>
                <a:cs typeface="Unbounded"/>
              </a:rPr>
              <a:t>Базовый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8087B1-5598-47DD-854F-9DF7BA39B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48150"/>
            <a:ext cx="2628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465C16"/>
                </a:solidFill>
                <a:latin typeface="Unbounded"/>
                <a:ea typeface="Unbounded"/>
                <a:cs typeface="Unbounded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465C16"/>
                </a:solidFill>
                <a:latin typeface="Unbounded"/>
                <a:ea typeface="Unbounded"/>
                <a:cs typeface="Unbounded"/>
              </a:defRPr>
            </a:pPr>
            <a:r>
              <a:rPr sz="1125" b="1">
                <a:solidFill>
                  <a:srgbClr val="465C16"/>
                </a:solidFill>
                <a:latin typeface="Unbounded"/>
                <a:ea typeface="Unbounded"/>
                <a:cs typeface="Unbounded"/>
              </a:rPr>
              <a:t>Разобраться в понятиях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BF9E54-0DDE-40A0-8853-26ACF0D74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67250"/>
            <a:ext cx="2495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666"/>
          </a:bodyPr>
          <a:lstStyle xmlns:a="http://schemas.openxmlformats.org/drawingml/2006/main">
            <a:defPPr algn="ctr">
              <a:defRPr sz="1200" b="0">
                <a:solidFill>
                  <a:srgbClr val="25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25212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5212B"/>
                </a:solidFill>
                <a:latin typeface="Arial"/>
                <a:ea typeface="Arial"/>
                <a:cs typeface="Arial"/>
              </a:rPr>
              <a:t>Основы ИИ, промптов и инструментов на простых рабочих ситуациях.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BE0A1F-A076-469E-8210-AB5DEA4C4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286000"/>
            <a:ext cx="3143250" cy="32194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D6EFEB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3B11AC-BF02-4C6F-BFC6-830FA4AB000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1673eeab46436d"/>
          <a:stretch xmlns:a="http://schemas.openxmlformats.org/drawingml/2006/main"/>
        </p:blipFill>
        <p:spPr>
          <a:xfrm xmlns:a="http://schemas.openxmlformats.org/drawingml/2006/main">
            <a:off x="5114925" y="2400300"/>
            <a:ext cx="1333500" cy="1333500"/>
          </a:xfrm>
          <a:prstGeom xmlns:a="http://schemas.openxmlformats.org/drawingml/2006/main" prst="ellipse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A38E58-0274-48E8-B310-F27A16994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886200"/>
            <a:ext cx="2628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206"/>
          </a:bodyPr>
          <a:lstStyle xmlns:a="http://schemas.openxmlformats.org/drawingml/2006/main">
            <a:defPPr algn="ctr">
              <a:defRPr sz="1800" b="1">
                <a:solidFill>
                  <a:srgbClr val="005B64"/>
                </a:solidFill>
                <a:latin typeface="Unbounded"/>
                <a:ea typeface="Unbounded"/>
                <a:cs typeface="Unbounded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005B64"/>
                </a:solidFill>
                <a:latin typeface="Unbounded"/>
                <a:ea typeface="Unbounded"/>
                <a:cs typeface="Unbounded"/>
              </a:defRPr>
            </a:pPr>
            <a:r>
              <a:rPr sz="1800" b="1">
                <a:solidFill>
                  <a:srgbClr val="005B64"/>
                </a:solidFill>
                <a:latin typeface="Unbounded"/>
                <a:ea typeface="Unbounded"/>
                <a:cs typeface="Unbounded"/>
              </a:rPr>
              <a:t>Продвинутый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FA18FA-E914-487D-BB65-2E25E538E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248150"/>
            <a:ext cx="2628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005B64"/>
                </a:solidFill>
                <a:latin typeface="Unbounded"/>
                <a:ea typeface="Unbounded"/>
                <a:cs typeface="Unbounded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005B64"/>
                </a:solidFill>
                <a:latin typeface="Unbounded"/>
                <a:ea typeface="Unbounded"/>
                <a:cs typeface="Unbounded"/>
              </a:defRPr>
            </a:pPr>
            <a:r>
              <a:rPr sz="1125" b="1">
                <a:solidFill>
                  <a:srgbClr val="005B64"/>
                </a:solidFill>
                <a:latin typeface="Unbounded"/>
                <a:ea typeface="Unbounded"/>
                <a:cs typeface="Unbounded"/>
              </a:rPr>
              <a:t>Решать рабочие задачи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79CBD4-56B0-4DB2-B5FA-ACAC22EAD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667250"/>
            <a:ext cx="2495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25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25212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5212B"/>
                </a:solidFill>
                <a:latin typeface="Arial"/>
                <a:ea typeface="Arial"/>
                <a:cs typeface="Arial"/>
              </a:rPr>
              <a:t>Выбор подхода, диагностика ошибок и сборка решений.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CDEACD-6078-43E2-8A82-6950FA997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286000"/>
            <a:ext cx="3143250" cy="32194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E9DCFB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AF33E6-0835-436C-98C3-ACB1BFD5FA7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2b5a1485254951"/>
          <a:stretch xmlns:a="http://schemas.openxmlformats.org/drawingml/2006/main"/>
        </p:blipFill>
        <p:spPr>
          <a:xfrm xmlns:a="http://schemas.openxmlformats.org/drawingml/2006/main">
            <a:off x="8639175" y="2400300"/>
            <a:ext cx="1333500" cy="1333500"/>
          </a:xfrm>
          <a:prstGeom xmlns:a="http://schemas.openxmlformats.org/drawingml/2006/main" prst="ellipse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CBD78F-38BD-4F0B-89EE-090C82F63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886200"/>
            <a:ext cx="2628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206"/>
          </a:bodyPr>
          <a:lstStyle xmlns:a="http://schemas.openxmlformats.org/drawingml/2006/main">
            <a:defPPr algn="ctr">
              <a:defRPr sz="1800" b="1">
                <a:solidFill>
                  <a:srgbClr val="6841AB"/>
                </a:solidFill>
                <a:latin typeface="Unbounded"/>
                <a:ea typeface="Unbounded"/>
                <a:cs typeface="Unbounded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6841AB"/>
                </a:solidFill>
                <a:latin typeface="Unbounded"/>
                <a:ea typeface="Unbounded"/>
                <a:cs typeface="Unbounded"/>
              </a:defRPr>
            </a:pPr>
            <a:r>
              <a:rPr sz="1800" b="1">
                <a:solidFill>
                  <a:srgbClr val="6841AB"/>
                </a:solidFill>
                <a:latin typeface="Unbounded"/>
                <a:ea typeface="Unbounded"/>
                <a:cs typeface="Unbounded"/>
              </a:rPr>
              <a:t>Экспертный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4A6769-E61C-4D40-A19B-36409007D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248150"/>
            <a:ext cx="2628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6841AB"/>
                </a:solidFill>
                <a:latin typeface="Unbounded"/>
                <a:ea typeface="Unbounded"/>
                <a:cs typeface="Unbounded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6841AB"/>
                </a:solidFill>
                <a:latin typeface="Unbounded"/>
                <a:ea typeface="Unbounded"/>
                <a:cs typeface="Unbounded"/>
              </a:defRPr>
            </a:pPr>
            <a:r>
              <a:rPr sz="1125" b="1">
                <a:solidFill>
                  <a:srgbClr val="6841AB"/>
                </a:solidFill>
                <a:latin typeface="Unbounded"/>
                <a:ea typeface="Unbounded"/>
                <a:cs typeface="Unbounded"/>
              </a:rPr>
              <a:t>Учитывать всю картину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E42D7B-DA41-43B6-BA55-8B6FB814E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667250"/>
            <a:ext cx="2495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666"/>
          </a:bodyPr>
          <a:lstStyle xmlns:a="http://schemas.openxmlformats.org/drawingml/2006/main">
            <a:defPPr algn="ctr">
              <a:defRPr sz="1200" b="0">
                <a:solidFill>
                  <a:srgbClr val="25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25212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5212B"/>
                </a:solidFill>
                <a:latin typeface="Arial"/>
                <a:ea typeface="Arial"/>
                <a:cs typeface="Arial"/>
              </a:rPr>
              <a:t>Несколько условий: качество, доступы, стоимость и последствия.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5072A1-102D-4C83-99AF-C8C8C2500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293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25212B"/>
                </a:solidFill>
                <a:latin typeface="Unbounded"/>
                <a:ea typeface="Unbounded"/>
                <a:cs typeface="Unbounded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25212B"/>
                </a:solidFill>
                <a:latin typeface="Unbounded"/>
                <a:ea typeface="Unbounded"/>
                <a:cs typeface="Unbounded"/>
              </a:defRPr>
            </a:pPr>
            <a:r>
              <a:rPr sz="1500" b="1">
                <a:solidFill>
                  <a:srgbClr val="25212B"/>
                </a:solidFill>
                <a:latin typeface="Unbounded"/>
                <a:ea typeface="Unbounded"/>
                <a:cs typeface="Unbounded"/>
              </a:rPr>
              <a:t>10 вопросов × 6 доменов = 60 вопросов на уровень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AA6E96-EE52-40A2-9744-3BA7AA79D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825" b="0">
                <a:solidFill>
                  <a:srgbClr val="6863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68636F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8636F"/>
                </a:solidFill>
                <a:latin typeface="Arial"/>
                <a:ea typeface="Arial"/>
                <a:cs typeface="Arial"/>
              </a:rPr>
              <a:t>Тренажёр компетенций ИИ  ·  03</a:t>
            </a:r>
          </a:p>
        </p:txBody>
      </p:sp>
    </p:spTree>
    <p:extLst>
      <p:ext uri="{BB962C8B-B14F-4D97-AF65-F5344CB8AC3E}">
        <p14:creationId xmlns:p14="http://schemas.microsoft.com/office/powerpoint/2010/main" val="133010069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76162D-B460-432B-99E2-292154AAD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"/>
          </a:bodyPr>
          <a:lstStyle xmlns:a="http://schemas.openxmlformats.org/drawingml/2006/main">
            <a:defPPr algn="l">
              <a:defRPr sz="975" b="1">
                <a:solidFill>
                  <a:srgbClr val="6841AB"/>
                </a:solidFill>
                <a:latin typeface="Unbounded"/>
                <a:ea typeface="Unbounded"/>
                <a:cs typeface="Unbounded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6841AB"/>
                </a:solidFill>
                <a:latin typeface="Unbounded"/>
                <a:ea typeface="Unbounded"/>
                <a:cs typeface="Unbounded"/>
              </a:defRPr>
            </a:pPr>
            <a:r>
              <a:rPr sz="975" b="1">
                <a:solidFill>
                  <a:srgbClr val="6841AB"/>
                </a:solidFill>
                <a:latin typeface="Unbounded"/>
                <a:ea typeface="Unbounded"/>
                <a:cs typeface="Unbounded"/>
              </a:rPr>
              <a:t>ПОКРЫТИЕ ПРОГРАММЫ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78B658-A40D-4A3C-AAFD-52F77EE0B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8858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25212B"/>
                </a:solidFill>
                <a:latin typeface="Unbounded"/>
                <a:ea typeface="Unbounded"/>
                <a:cs typeface="Unbounded"/>
              </a:defRPr>
            </a:defPPr>
          </a:lstStyle>
          <a:p xmlns:a="http://schemas.openxmlformats.org/drawingml/2006/main">
            <a:pPr algn="l">
              <a:lnSpc>
                <a:spcPct val="96000"/>
              </a:lnSpc>
              <a:buNone/>
              <a:defRPr sz="3000" b="1">
                <a:solidFill>
                  <a:srgbClr val="25212B"/>
                </a:solidFill>
                <a:latin typeface="Unbounded"/>
                <a:ea typeface="Unbounded"/>
                <a:cs typeface="Unbounded"/>
              </a:defRPr>
            </a:pPr>
            <a:r>
              <a:rPr sz="3000" b="1">
                <a:solidFill>
                  <a:srgbClr val="25212B"/>
                </a:solidFill>
                <a:latin typeface="Unbounded"/>
                <a:ea typeface="Unbounded"/>
                <a:cs typeface="Unbounded"/>
              </a:rPr>
              <a:t>Шесть доменов. Равный банк, официальный вес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461C8F-7941-4564-9692-E5C4F4992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6685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593"/>
          </a:bodyPr>
          <a:lstStyle xmlns:a="http://schemas.openxmlformats.org/drawingml/2006/main">
            <a:defPPr algn="l">
              <a:defRPr sz="1350" b="0">
                <a:solidFill>
                  <a:srgbClr val="6863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8636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8636F"/>
                </a:solidFill>
                <a:latin typeface="Arial"/>
                <a:ea typeface="Arial"/>
                <a:cs typeface="Arial"/>
              </a:rPr>
              <a:t>Внутри тренажёра каждый домен даёт 30 заданий: по 10 на каждом уровне. Проценты ниже относятся к программе экзамена.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ADCF04-A38A-4F0D-AA24-47FF47CE1744}"/>
              </a:ext>
            </a:extLst>
          </p:cNvPr>
          <p:cNvGraphicFramePr/>
          <p:nvPr/>
        </p:nvGraphicFramePr>
        <p:xfrm>
          <a:off xmlns:a="http://schemas.openxmlformats.org/drawingml/2006/main" x="685800" y="2266950"/>
          <a:ext xmlns:a="http://schemas.openxmlformats.org/drawingml/2006/main" cx="10001250" cy="31432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4762500"/>
                <a:gridCol w="1714500"/>
                <a:gridCol w="1714500"/>
                <a:gridCol w="1809750"/>
              </a:tblGrid>
              <a:tr h="449036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Unbounded"/>
                          <a:ea typeface="Unbounded"/>
                          <a:cs typeface="Unbounded"/>
                        </a:rPr>
                        <a:t>Домен</a:t>
                      </a:r>
                    </a:p>
                  </a:txBody>
                  <a:tcPr marL="91440" marR="91440" marT="45720" marB="45720" anchor="ctr">
                    <a:solidFill>
                      <a:srgbClr val="6841A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Unbounded"/>
                          <a:ea typeface="Unbounded"/>
                          <a:cs typeface="Unbounded"/>
                        </a:rPr>
                        <a:t>Доля программы</a:t>
                      </a:r>
                    </a:p>
                  </a:txBody>
                  <a:tcPr marL="91440" marR="91440" marT="45720" marB="45720" anchor="ctr">
                    <a:solidFill>
                      <a:srgbClr val="6841A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Unbounded"/>
                          <a:ea typeface="Unbounded"/>
                          <a:cs typeface="Unbounded"/>
                        </a:rPr>
                        <a:t>На уровень</a:t>
                      </a:r>
                    </a:p>
                  </a:txBody>
                  <a:tcPr marL="91440" marR="91440" marT="45720" marB="45720" anchor="ctr">
                    <a:solidFill>
                      <a:srgbClr val="6841A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Unbounded"/>
                          <a:ea typeface="Unbounded"/>
                          <a:cs typeface="Unbounded"/>
                        </a:rPr>
                        <a:t>Всего</a:t>
                      </a:r>
                    </a:p>
                  </a:txBody>
                  <a:tcPr marL="91440" marR="91440" marT="45720" marB="45720" anchor="ctr">
                    <a:solidFill>
                      <a:srgbClr val="6841AB"/>
                    </a:solidFill>
                  </a:tcPr>
                </a:tc>
              </a:tr>
              <a:tr h="449036">
                <a:tc>
                  <a:txBody>
                    <a:bodyPr/>
                    <a:lstStyle/>
                    <a:p>
                      <a:pPr algn="l"/>
                      <a:r>
                        <a:rPr sz="1125">
                          <a:solidFill>
                            <a:srgbClr val="25212B"/>
                          </a:solidFill>
                          <a:latin typeface="Arial"/>
                          <a:ea typeface="Arial"/>
                          <a:cs typeface="Arial"/>
                        </a:rPr>
                        <a:t>Основы ИИ и генеративного ИИ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25212B"/>
                          </a:solidFill>
                          <a:latin typeface="Arial"/>
                          <a:ea typeface="Arial"/>
                          <a:cs typeface="Arial"/>
                        </a:rPr>
                        <a:t>~14%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25212B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25212B"/>
                          </a:solidFill>
                          <a:latin typeface="Arial"/>
                          <a:ea typeface="Arial"/>
                          <a:cs typeface="Arial"/>
                        </a:rPr>
                        <a:t>30</a:t>
                      </a:r>
                    </a:p>
                  </a:txBody>
                  <a:tcPr marL="91440" marR="91440" marT="45720" marB="45720" anchor="ctr"/>
                </a:tc>
              </a:tr>
              <a:tr h="449036">
                <a:tc>
                  <a:txBody>
                    <a:bodyPr/>
                    <a:lstStyle/>
                    <a:p>
                      <a:pPr algn="l"/>
                      <a:r>
                        <a:rPr sz="1125">
                          <a:solidFill>
                            <a:srgbClr val="25212B"/>
                          </a:solidFill>
                          <a:latin typeface="Arial"/>
                          <a:ea typeface="Arial"/>
                          <a:cs typeface="Arial"/>
                        </a:rPr>
                        <a:t>Практическое применение в работе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25212B"/>
                          </a:solidFill>
                          <a:latin typeface="Arial"/>
                          <a:ea typeface="Arial"/>
                          <a:cs typeface="Arial"/>
                        </a:rPr>
                        <a:t>~18%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25212B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25212B"/>
                          </a:solidFill>
                          <a:latin typeface="Arial"/>
                          <a:ea typeface="Arial"/>
                          <a:cs typeface="Arial"/>
                        </a:rPr>
                        <a:t>30</a:t>
                      </a:r>
                    </a:p>
                  </a:txBody>
                  <a:tcPr marL="91440" marR="91440" marT="45720" marB="45720" anchor="ctr"/>
                </a:tc>
              </a:tr>
              <a:tr h="449036">
                <a:tc>
                  <a:txBody>
                    <a:bodyPr/>
                    <a:lstStyle/>
                    <a:p>
                      <a:pPr algn="l"/>
                      <a:r>
                        <a:rPr sz="1125">
                          <a:solidFill>
                            <a:srgbClr val="25212B"/>
                          </a:solidFill>
                          <a:latin typeface="Arial"/>
                          <a:ea typeface="Arial"/>
                          <a:cs typeface="Arial"/>
                        </a:rPr>
                        <a:t>Ответственный ИИ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25212B"/>
                          </a:solidFill>
                          <a:latin typeface="Arial"/>
                          <a:ea typeface="Arial"/>
                          <a:cs typeface="Arial"/>
                        </a:rPr>
                        <a:t>~12%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25212B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25212B"/>
                          </a:solidFill>
                          <a:latin typeface="Arial"/>
                          <a:ea typeface="Arial"/>
                          <a:cs typeface="Arial"/>
                        </a:rPr>
                        <a:t>30</a:t>
                      </a:r>
                    </a:p>
                  </a:txBody>
                  <a:tcPr marL="91440" marR="91440" marT="45720" marB="45720" anchor="ctr"/>
                </a:tc>
              </a:tr>
              <a:tr h="449036">
                <a:tc>
                  <a:txBody>
                    <a:bodyPr/>
                    <a:lstStyle/>
                    <a:p>
                      <a:pPr algn="l"/>
                      <a:r>
                        <a:rPr sz="1125">
                          <a:solidFill>
                            <a:srgbClr val="25212B"/>
                          </a:solidFill>
                          <a:latin typeface="Arial"/>
                          <a:ea typeface="Arial"/>
                          <a:cs typeface="Arial"/>
                        </a:rPr>
                        <a:t>Внедрение и ценность для бизнеса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25212B"/>
                          </a:solidFill>
                          <a:latin typeface="Arial"/>
                          <a:ea typeface="Arial"/>
                          <a:cs typeface="Arial"/>
                        </a:rPr>
                        <a:t>~16%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25212B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25212B"/>
                          </a:solidFill>
                          <a:latin typeface="Arial"/>
                          <a:ea typeface="Arial"/>
                          <a:cs typeface="Arial"/>
                        </a:rPr>
                        <a:t>30</a:t>
                      </a:r>
                    </a:p>
                  </a:txBody>
                  <a:tcPr marL="91440" marR="91440" marT="45720" marB="45720" anchor="ctr"/>
                </a:tc>
              </a:tr>
              <a:tr h="449036">
                <a:tc>
                  <a:txBody>
                    <a:bodyPr/>
                    <a:lstStyle/>
                    <a:p>
                      <a:pPr algn="l"/>
                      <a:r>
                        <a:rPr sz="1125">
                          <a:solidFill>
                            <a:srgbClr val="25212B"/>
                          </a:solidFill>
                          <a:latin typeface="Arial"/>
                          <a:ea typeface="Arial"/>
                          <a:cs typeface="Arial"/>
                        </a:rPr>
                        <a:t>ИИ-агенты и инструменты агентской платформы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25212B"/>
                          </a:solidFill>
                          <a:latin typeface="Arial"/>
                          <a:ea typeface="Arial"/>
                          <a:cs typeface="Arial"/>
                        </a:rPr>
                        <a:t>~12%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25212B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25212B"/>
                          </a:solidFill>
                          <a:latin typeface="Arial"/>
                          <a:ea typeface="Arial"/>
                          <a:cs typeface="Arial"/>
                        </a:rPr>
                        <a:t>30</a:t>
                      </a:r>
                    </a:p>
                  </a:txBody>
                  <a:tcPr marL="91440" marR="91440" marT="45720" marB="45720" anchor="ctr"/>
                </a:tc>
              </a:tr>
              <a:tr h="449036">
                <a:tc>
                  <a:txBody>
                    <a:bodyPr/>
                    <a:lstStyle/>
                    <a:p>
                      <a:pPr algn="l"/>
                      <a:r>
                        <a:rPr sz="1125">
                          <a:solidFill>
                            <a:srgbClr val="25212B"/>
                          </a:solidFill>
                          <a:latin typeface="Arial"/>
                          <a:ea typeface="Arial"/>
                          <a:cs typeface="Arial"/>
                        </a:rPr>
                        <a:t>Алиса AI Про для бизнеса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25212B"/>
                          </a:solidFill>
                          <a:latin typeface="Arial"/>
                          <a:ea typeface="Arial"/>
                          <a:cs typeface="Arial"/>
                        </a:rPr>
                        <a:t>~28%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25212B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25212B"/>
                          </a:solidFill>
                          <a:latin typeface="Arial"/>
                          <a:ea typeface="Arial"/>
                          <a:cs typeface="Arial"/>
                        </a:rPr>
                        <a:t>30</a:t>
                      </a:r>
                    </a:p>
                  </a:txBody>
                  <a:tcPr marL="91440" marR="91440" marT="45720" marB="45720" anchor="ctr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CB252F-EF13-4626-9977-E34BBB8FE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95950"/>
            <a:ext cx="10001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9DC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D8CFE4-7CB0-4283-B176-FD1588F33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81977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6841A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6841A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841AB"/>
                </a:solidFill>
                <a:latin typeface="Arial"/>
                <a:ea typeface="Arial"/>
                <a:cs typeface="Arial"/>
              </a:rPr>
              <a:t>Учебная честность: равное число заданий помогает сравнивать уровни, а официальный вес остаётся видимым контекстом.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26567D-99E1-499C-A95A-25D2BEF4B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825" b="0">
                <a:solidFill>
                  <a:srgbClr val="6863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68636F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8636F"/>
                </a:solidFill>
                <a:latin typeface="Arial"/>
                <a:ea typeface="Arial"/>
                <a:cs typeface="Arial"/>
              </a:rPr>
              <a:t>Тренажёр компетенций ИИ  ·  04</a:t>
            </a:r>
          </a:p>
        </p:txBody>
      </p:sp>
    </p:spTree>
    <p:extLst>
      <p:ext uri="{BB962C8B-B14F-4D97-AF65-F5344CB8AC3E}">
        <p14:creationId xmlns:p14="http://schemas.microsoft.com/office/powerpoint/2010/main" val="128755522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715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605EFA7-A0B6-4011-AF2C-9E57D84F9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C5A8F2"/>
                </a:solidFill>
                <a:latin typeface="Unbounded"/>
                <a:ea typeface="Unbounded"/>
                <a:cs typeface="Unbounded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C5A8F2"/>
                </a:solidFill>
                <a:latin typeface="Unbounded"/>
                <a:ea typeface="Unbounded"/>
                <a:cs typeface="Unbounded"/>
              </a:defRPr>
            </a:pPr>
            <a:r>
              <a:rPr sz="975" b="1">
                <a:solidFill>
                  <a:srgbClr val="C5A8F2"/>
                </a:solidFill>
                <a:latin typeface="Unbounded"/>
                <a:ea typeface="Unbounded"/>
                <a:cs typeface="Unbounded"/>
              </a:rPr>
              <a:t>ОДИН ВОПРОС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7FF736-0C75-4BE4-A2BB-C90BA7023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7810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FFFFFF"/>
                </a:solidFill>
                <a:latin typeface="Unbounded"/>
                <a:ea typeface="Unbounded"/>
                <a:cs typeface="Unbounded"/>
              </a:defRPr>
            </a:defPPr>
          </a:lstStyle>
          <a:p xmlns:a="http://schemas.openxmlformats.org/drawingml/2006/main">
            <a:pPr algn="l">
              <a:lnSpc>
                <a:spcPct val="96000"/>
              </a:lnSpc>
              <a:buNone/>
              <a:defRPr sz="3150" b="1">
                <a:solidFill>
                  <a:srgbClr val="FFFFFF"/>
                </a:solidFill>
                <a:latin typeface="Unbounded"/>
                <a:ea typeface="Unbounded"/>
                <a:cs typeface="Unbounded"/>
              </a:defRPr>
            </a:pPr>
            <a:r>
              <a:rPr sz="3150" b="1">
                <a:solidFill>
                  <a:srgbClr val="FFFFFF"/>
                </a:solidFill>
                <a:latin typeface="Unbounded"/>
                <a:ea typeface="Unbounded"/>
                <a:cs typeface="Unbounded"/>
              </a:rPr>
              <a:t>Ответ превращается в следующий шаг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A235F0-FC37-4997-9385-585F47CDE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24000"/>
            <a:ext cx="733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6402"/>
          </a:bodyPr>
          <a:lstStyle xmlns:a="http://schemas.openxmlformats.org/drawingml/2006/main">
            <a:defPPr algn="l">
              <a:defRPr sz="1500" b="0">
                <a:solidFill>
                  <a:srgbClr val="B9B0C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B9B0C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9B0C5"/>
                </a:solidFill>
                <a:latin typeface="Arial"/>
                <a:ea typeface="Arial"/>
                <a:cs typeface="Arial"/>
              </a:rPr>
              <a:t>Интерфейс фиксирует ответ, показывает разбор и позволяет вернуться к ошибкам через отдельный режим.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03C0C9-45DB-40E0-AC9E-83637AF0B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30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E4F095-FA5D-4A3E-AE11-8FC4D72F1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A4D6DD-B64E-4B5C-85DF-88AF695CA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593"/>
          </a:bodyPr>
          <a:lstStyle xmlns:a="http://schemas.openxmlformats.org/drawingml/2006/main">
            <a:defPPr algn="l">
              <a:defRPr sz="1800" b="1">
                <a:solidFill>
                  <a:srgbClr val="FFFFFF"/>
                </a:solidFill>
                <a:latin typeface="Unbounded"/>
                <a:ea typeface="Unbounded"/>
                <a:cs typeface="Unbounded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FFFFFF"/>
                </a:solidFill>
                <a:latin typeface="Unbounded"/>
                <a:ea typeface="Unbounded"/>
                <a:cs typeface="Unbounded"/>
              </a:defRPr>
            </a:pPr>
            <a:r>
              <a:rPr sz="1800" b="1">
                <a:solidFill>
                  <a:srgbClr val="FFFFFF"/>
                </a:solidFill>
                <a:latin typeface="Unbounded"/>
                <a:ea typeface="Unbounded"/>
                <a:cs typeface="Unbounded"/>
              </a:rPr>
              <a:t>Выбрать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8D69D4-DBDD-4FAB-B4C7-D99909AFF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B9B0C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B9B0C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9B0C5"/>
                </a:solidFill>
                <a:latin typeface="Arial"/>
                <a:ea typeface="Arial"/>
                <a:cs typeface="Arial"/>
              </a:rPr>
              <a:t>Один ответ, несколько вариантов или пары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E16174-ECB8-415C-A4D5-F64A11E97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76575"/>
            <a:ext cx="1762125" cy="190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494152"/>
          </a:solidFill>
          <a:ln xmlns:a="http://schemas.openxmlformats.org/drawingml/2006/main" w="9525">
            <a:solidFill>
              <a:srgbClr val="49415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67985E-CB78-49BB-82BB-EBFAB8A11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30194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941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6EC4FF-9C28-4C76-BB47-E64159229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78130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B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3F6F47-EF4A-4838-BE26-065428B99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9718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C0E607-AB02-43DD-8E18-F7905D60D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7338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593"/>
          </a:bodyPr>
          <a:lstStyle xmlns:a="http://schemas.openxmlformats.org/drawingml/2006/main">
            <a:defPPr algn="l">
              <a:defRPr sz="1800" b="1">
                <a:solidFill>
                  <a:srgbClr val="FFFFFF"/>
                </a:solidFill>
                <a:latin typeface="Unbounded"/>
                <a:ea typeface="Unbounded"/>
                <a:cs typeface="Unbounded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FFFFFF"/>
                </a:solidFill>
                <a:latin typeface="Unbounded"/>
                <a:ea typeface="Unbounded"/>
                <a:cs typeface="Unbounded"/>
              </a:defRPr>
            </a:pPr>
            <a:r>
              <a:rPr sz="1800" b="1">
                <a:solidFill>
                  <a:srgbClr val="FFFFFF"/>
                </a:solidFill>
                <a:latin typeface="Unbounded"/>
                <a:ea typeface="Unbounded"/>
                <a:cs typeface="Unbounded"/>
              </a:rPr>
              <a:t>Проверить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969D93-8012-479B-B029-E2EEA730A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171950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B9B0C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B9B0C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9B0C5"/>
                </a:solidFill>
                <a:latin typeface="Arial"/>
                <a:ea typeface="Arial"/>
                <a:cs typeface="Arial"/>
              </a:rPr>
              <a:t>Отправить и получить 1 или 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815D0F-137F-4AAF-BFD4-93ACEC56C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076575"/>
            <a:ext cx="1762125" cy="190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494152"/>
          </a:solidFill>
          <a:ln xmlns:a="http://schemas.openxmlformats.org/drawingml/2006/main" w="9525">
            <a:solidFill>
              <a:srgbClr val="49415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92AED9-D47E-47D8-A2EA-6DE44D02C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30194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941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A52D73-2349-45B1-81DA-EB8A7BC36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78130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841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48FBD9-A55A-49B4-B48E-2547B173A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9718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6D1080-B6E5-446C-A750-9BE965617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7338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593"/>
          </a:bodyPr>
          <a:lstStyle xmlns:a="http://schemas.openxmlformats.org/drawingml/2006/main">
            <a:defPPr algn="l">
              <a:defRPr sz="1800" b="1">
                <a:solidFill>
                  <a:srgbClr val="FFFFFF"/>
                </a:solidFill>
                <a:latin typeface="Unbounded"/>
                <a:ea typeface="Unbounded"/>
                <a:cs typeface="Unbounded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FFFFFF"/>
                </a:solidFill>
                <a:latin typeface="Unbounded"/>
                <a:ea typeface="Unbounded"/>
                <a:cs typeface="Unbounded"/>
              </a:defRPr>
            </a:pPr>
            <a:r>
              <a:rPr sz="1800" b="1">
                <a:solidFill>
                  <a:srgbClr val="FFFFFF"/>
                </a:solidFill>
                <a:latin typeface="Unbounded"/>
                <a:ea typeface="Unbounded"/>
                <a:cs typeface="Unbounded"/>
              </a:rPr>
              <a:t>Понять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CE0286-E9E8-4656-AE09-27D8C8C7A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171950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B9B0C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B9B0C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9B0C5"/>
                </a:solidFill>
                <a:latin typeface="Arial"/>
                <a:ea typeface="Arial"/>
                <a:cs typeface="Arial"/>
              </a:rPr>
              <a:t>Прочитать объяснение и памятку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914433-E28B-4DA3-9635-5BCFF33C0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076575"/>
            <a:ext cx="1762125" cy="190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494152"/>
          </a:solidFill>
          <a:ln xmlns:a="http://schemas.openxmlformats.org/drawingml/2006/main" w="9525">
            <a:solidFill>
              <a:srgbClr val="49415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846074-E777-4FF0-B5E3-C9FBAA275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30194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941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C84A54-C346-4BD3-B2A3-5E1F3A58C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78130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65C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A0D30D-1E42-46C7-B627-3908C64D9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9718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449D03C-DE0F-4628-93CB-7E304E158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7338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593"/>
          </a:bodyPr>
          <a:lstStyle xmlns:a="http://schemas.openxmlformats.org/drawingml/2006/main">
            <a:defPPr algn="l">
              <a:defRPr sz="1800" b="1">
                <a:solidFill>
                  <a:srgbClr val="FFFFFF"/>
                </a:solidFill>
                <a:latin typeface="Unbounded"/>
                <a:ea typeface="Unbounded"/>
                <a:cs typeface="Unbounded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FFFFFF"/>
                </a:solidFill>
                <a:latin typeface="Unbounded"/>
                <a:ea typeface="Unbounded"/>
                <a:cs typeface="Unbounded"/>
              </a:defRPr>
            </a:pPr>
            <a:r>
              <a:rPr sz="1800" b="1">
                <a:solidFill>
                  <a:srgbClr val="FFFFFF"/>
                </a:solidFill>
                <a:latin typeface="Unbounded"/>
                <a:ea typeface="Unbounded"/>
                <a:cs typeface="Unbounded"/>
              </a:rPr>
              <a:t>Повторить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07E6D83-EB79-4F51-B915-DD6AD0F29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171950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B9B0C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B9B0C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9B0C5"/>
                </a:solidFill>
                <a:latin typeface="Arial"/>
                <a:ea typeface="Arial"/>
                <a:cs typeface="Arial"/>
              </a:rPr>
              <a:t>Открыть режим «Ошибки»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E07E00D-A8AD-4D47-A28F-61031B79E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10001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302B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994CE8F-5179-43BD-957D-4BDF61E2F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1022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F2ED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F2EDF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2EDF8"/>
                </a:solidFill>
                <a:latin typeface="Arial"/>
                <a:ea typeface="Arial"/>
                <a:cs typeface="Arial"/>
              </a:rPr>
              <a:t>Разбор входит в учебный результат: вопрос хранит объяснения вариантов и источник.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06D51E1-929F-4479-BB77-211012AD4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825" b="0">
                <a:solidFill>
                  <a:srgbClr val="B9B0C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B9B0C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B9B0C5"/>
                </a:solidFill>
                <a:latin typeface="Arial"/>
                <a:ea typeface="Arial"/>
                <a:cs typeface="Arial"/>
              </a:rPr>
              <a:t>Тренажёр компетенций ИИ  ·  05</a:t>
            </a:r>
          </a:p>
        </p:txBody>
      </p:sp>
    </p:spTree>
    <p:extLst>
      <p:ext uri="{BB962C8B-B14F-4D97-AF65-F5344CB8AC3E}">
        <p14:creationId xmlns:p14="http://schemas.microsoft.com/office/powerpoint/2010/main" val="115448538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B6CF2A-0D96-4EFA-AF52-9BAED9DF1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"/>
          </a:bodyPr>
          <a:lstStyle xmlns:a="http://schemas.openxmlformats.org/drawingml/2006/main">
            <a:defPPr algn="l">
              <a:defRPr sz="975" b="1">
                <a:solidFill>
                  <a:srgbClr val="6841AB"/>
                </a:solidFill>
                <a:latin typeface="Unbounded"/>
                <a:ea typeface="Unbounded"/>
                <a:cs typeface="Unbounded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6841AB"/>
                </a:solidFill>
                <a:latin typeface="Unbounded"/>
                <a:ea typeface="Unbounded"/>
                <a:cs typeface="Unbounded"/>
              </a:defRPr>
            </a:pPr>
            <a:r>
              <a:rPr sz="975" b="1">
                <a:solidFill>
                  <a:srgbClr val="6841AB"/>
                </a:solidFill>
                <a:latin typeface="Unbounded"/>
                <a:ea typeface="Unbounded"/>
                <a:cs typeface="Unbounded"/>
              </a:rPr>
              <a:t>КАК ЧИТАТЬ РЕЗУЛЬТАТ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04C6D6-938D-48A6-9B02-515723141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6858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25212B"/>
                </a:solidFill>
                <a:latin typeface="Unbounded"/>
                <a:ea typeface="Unbounded"/>
                <a:cs typeface="Unbounded"/>
              </a:defRPr>
            </a:defPPr>
          </a:lstStyle>
          <a:p xmlns:a="http://schemas.openxmlformats.org/drawingml/2006/main">
            <a:pPr algn="l">
              <a:lnSpc>
                <a:spcPct val="96000"/>
              </a:lnSpc>
              <a:buNone/>
              <a:defRPr sz="3300" b="1">
                <a:solidFill>
                  <a:srgbClr val="25212B"/>
                </a:solidFill>
                <a:latin typeface="Unbounded"/>
                <a:ea typeface="Unbounded"/>
                <a:cs typeface="Unbounded"/>
              </a:defRPr>
            </a:pPr>
            <a:r>
              <a:rPr sz="3300" b="1">
                <a:solidFill>
                  <a:srgbClr val="25212B"/>
                </a:solidFill>
                <a:latin typeface="Unbounded"/>
                <a:ea typeface="Unbounded"/>
                <a:cs typeface="Unbounded"/>
              </a:rPr>
              <a:t>47 из 60: результат 78,3%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BE154F-6F83-41AC-A47D-33B82A450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6863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68636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8636F"/>
                </a:solidFill>
                <a:latin typeface="Arial"/>
                <a:ea typeface="Arial"/>
                <a:cs typeface="Arial"/>
              </a:rPr>
              <a:t>Для тренировки приложение держит ориентир 80%. Это учебная цель, а не официальный проходной балл экзамена.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72485B-EAB3-4B84-8BE5-B23378C8B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44767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E9DC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B6F48B-D105-4B9B-AD77-68DDE3E27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24200"/>
            <a:ext cx="3810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5400" b="1">
                <a:solidFill>
                  <a:srgbClr val="6841AB"/>
                </a:solidFill>
                <a:latin typeface="Unbounded"/>
                <a:ea typeface="Unbounded"/>
                <a:cs typeface="Unbounded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5400" b="1">
                <a:solidFill>
                  <a:srgbClr val="6841AB"/>
                </a:solidFill>
                <a:latin typeface="Unbounded"/>
                <a:ea typeface="Unbounded"/>
                <a:cs typeface="Unbounded"/>
              </a:defRPr>
            </a:pPr>
            <a:r>
              <a:rPr sz="5400" b="1">
                <a:solidFill>
                  <a:srgbClr val="6841AB"/>
                </a:solidFill>
                <a:latin typeface="Unbounded"/>
                <a:ea typeface="Unbounded"/>
                <a:cs typeface="Unbounded"/>
              </a:rPr>
              <a:t>78,3%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9718C0-5058-4D53-BE8A-EBCC4E554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14800"/>
            <a:ext cx="381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25212B"/>
                </a:solidFill>
                <a:latin typeface="Unbounded"/>
                <a:ea typeface="Unbounded"/>
                <a:cs typeface="Unbounded"/>
              </a:defRPr>
            </a:def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25212B"/>
                </a:solidFill>
                <a:latin typeface="Unbounded"/>
                <a:ea typeface="Unbounded"/>
                <a:cs typeface="Unbounded"/>
              </a:defRPr>
            </a:pPr>
            <a:r>
              <a:rPr sz="1500" b="1">
                <a:solidFill>
                  <a:srgbClr val="25212B"/>
                </a:solidFill>
                <a:latin typeface="Unbounded"/>
                <a:ea typeface="Unbounded"/>
                <a:cs typeface="Unbounded"/>
              </a:rPr>
              <a:t>47 правильных ответов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25212B"/>
                </a:solidFill>
                <a:latin typeface="Unbounded"/>
                <a:ea typeface="Unbounded"/>
                <a:cs typeface="Unbounded"/>
              </a:defRPr>
            </a:pPr>
            <a:r>
              <a:rPr sz="1500" b="1">
                <a:solidFill>
                  <a:srgbClr val="25212B"/>
                </a:solidFill>
                <a:latin typeface="Unbounded"/>
                <a:ea typeface="Unbounded"/>
                <a:cs typeface="Unbounded"/>
              </a:rPr>
              <a:t>из 60 вопросов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5EE3E4-3D74-46CF-9CC1-890E01B9A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762250"/>
            <a:ext cx="48768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0ED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EE8CA8-C847-48E7-8E1B-78FF6932D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1051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593"/>
          </a:bodyPr>
          <a:lstStyle xmlns:a="http://schemas.openxmlformats.org/drawingml/2006/main">
            <a:defPPr algn="l">
              <a:defRPr sz="1800" b="1">
                <a:solidFill>
                  <a:srgbClr val="25212B"/>
                </a:solidFill>
                <a:latin typeface="Unbounded"/>
                <a:ea typeface="Unbounded"/>
                <a:cs typeface="Unbounded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25212B"/>
                </a:solidFill>
                <a:latin typeface="Unbounded"/>
                <a:ea typeface="Unbounded"/>
                <a:cs typeface="Unbounded"/>
              </a:defRPr>
            </a:pPr>
            <a:r>
              <a:rPr sz="1800" b="1">
                <a:solidFill>
                  <a:srgbClr val="25212B"/>
                </a:solidFill>
                <a:latin typeface="Unbounded"/>
                <a:ea typeface="Unbounded"/>
                <a:cs typeface="Unbounded"/>
              </a:rPr>
              <a:t>Что ещё видно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6FADB5-A3B5-4E43-B3E8-9B4E7216A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638550"/>
            <a:ext cx="4000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25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425" b="0">
                <a:solidFill>
                  <a:srgbClr val="25212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5212B"/>
                </a:solidFill>
                <a:latin typeface="Arial"/>
                <a:ea typeface="Arial"/>
                <a:cs typeface="Arial"/>
              </a:rPr>
              <a:t>• сколько вопросов отвечено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425" b="0">
                <a:solidFill>
                  <a:srgbClr val="25212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5212B"/>
                </a:solidFill>
                <a:latin typeface="Arial"/>
                <a:ea typeface="Arial"/>
                <a:cs typeface="Arial"/>
              </a:rPr>
              <a:t>• где ошибки по шести доменам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425" b="0">
                <a:solidFill>
                  <a:srgbClr val="25212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5212B"/>
                </a:solidFill>
                <a:latin typeface="Arial"/>
                <a:ea typeface="Arial"/>
                <a:cs typeface="Arial"/>
              </a:rPr>
              <a:t>• какие объяснения стоит повторить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1F0261-06C3-4E3D-BDD3-9A3F3FBAB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575"/>
          </a:bodyPr>
          <a:lstStyle xmlns:a="http://schemas.openxmlformats.org/drawingml/2006/main">
            <a:defPPr algn="l">
              <a:defRPr sz="1350" b="1">
                <a:solidFill>
                  <a:srgbClr val="6841A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6841A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841AB"/>
                </a:solidFill>
                <a:latin typeface="Arial"/>
                <a:ea typeface="Arial"/>
                <a:cs typeface="Arial"/>
              </a:rPr>
              <a:t>Счёт пересчитывается из ответов. Импортированный JSON не может подменить результат отдельным полем.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8DBA2D-AC17-4736-8520-3549CD08A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825" b="0">
                <a:solidFill>
                  <a:srgbClr val="6863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68636F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8636F"/>
                </a:solidFill>
                <a:latin typeface="Arial"/>
                <a:ea typeface="Arial"/>
                <a:cs typeface="Arial"/>
              </a:rPr>
              <a:t>Тренажёр компетенций ИИ  ·  06</a:t>
            </a:r>
          </a:p>
        </p:txBody>
      </p:sp>
    </p:spTree>
    <p:extLst>
      <p:ext uri="{BB962C8B-B14F-4D97-AF65-F5344CB8AC3E}">
        <p14:creationId xmlns:p14="http://schemas.microsoft.com/office/powerpoint/2010/main" val="198600908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0ED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9CB6D6-59C8-4269-A1C9-35EE29449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"/>
          </a:bodyPr>
          <a:lstStyle xmlns:a="http://schemas.openxmlformats.org/drawingml/2006/main">
            <a:defPPr algn="l">
              <a:defRPr sz="975" b="1">
                <a:solidFill>
                  <a:srgbClr val="6841AB"/>
                </a:solidFill>
                <a:latin typeface="Unbounded"/>
                <a:ea typeface="Unbounded"/>
                <a:cs typeface="Unbounded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6841AB"/>
                </a:solidFill>
                <a:latin typeface="Unbounded"/>
                <a:ea typeface="Unbounded"/>
                <a:cs typeface="Unbounded"/>
              </a:defRPr>
            </a:pPr>
            <a:r>
              <a:rPr sz="975" b="1">
                <a:solidFill>
                  <a:srgbClr val="6841AB"/>
                </a:solidFill>
                <a:latin typeface="Unbounded"/>
                <a:ea typeface="Unbounded"/>
                <a:cs typeface="Unbounded"/>
              </a:rPr>
              <a:t>ДАННЫЕ УЧЕНИКА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B248E2-DA3D-4EDE-AA6A-AFDAA05EC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8001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3075" b="1">
                <a:solidFill>
                  <a:srgbClr val="25212B"/>
                </a:solidFill>
                <a:latin typeface="Unbounded"/>
                <a:ea typeface="Unbounded"/>
                <a:cs typeface="Unbounded"/>
              </a:defRPr>
            </a:defPPr>
          </a:lstStyle>
          <a:p xmlns:a="http://schemas.openxmlformats.org/drawingml/2006/main">
            <a:pPr algn="l">
              <a:lnSpc>
                <a:spcPct val="96000"/>
              </a:lnSpc>
              <a:buNone/>
              <a:defRPr sz="3075" b="1">
                <a:solidFill>
                  <a:srgbClr val="25212B"/>
                </a:solidFill>
                <a:latin typeface="Unbounded"/>
                <a:ea typeface="Unbounded"/>
                <a:cs typeface="Unbounded"/>
              </a:defRPr>
            </a:pPr>
            <a:r>
              <a:rPr sz="3075" b="1">
                <a:solidFill>
                  <a:srgbClr val="25212B"/>
                </a:solidFill>
                <a:latin typeface="Unbounded"/>
                <a:ea typeface="Unbounded"/>
                <a:cs typeface="Unbounded"/>
              </a:rPr>
              <a:t>Прогресс живёт рядом с приложением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11E66F-5880-41FF-AC2E-4D14B7760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6210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403"/>
          </a:bodyPr>
          <a:lstStyle xmlns:a="http://schemas.openxmlformats.org/drawingml/2006/main">
            <a:defPPr algn="l">
              <a:defRPr sz="1575" b="0">
                <a:solidFill>
                  <a:srgbClr val="6863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68636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8636F"/>
                </a:solidFill>
                <a:latin typeface="Arial"/>
                <a:ea typeface="Arial"/>
                <a:cs typeface="Arial"/>
              </a:rPr>
              <a:t>Тренажёр хранит попытки в localStorage, а резервную копию можно скачать и импортировать в совместимом браузере.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B023C5-C356-4F05-BA9D-AB5E0B0E2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30670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4E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BD532B-F51F-4E96-B29F-163AFC17A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432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206"/>
          </a:bodyPr>
          <a:lstStyle xmlns:a="http://schemas.openxmlformats.org/drawingml/2006/main">
            <a:defPPr algn="l">
              <a:defRPr sz="1800" b="1">
                <a:solidFill>
                  <a:srgbClr val="6841AB"/>
                </a:solidFill>
                <a:latin typeface="Unbounded"/>
                <a:ea typeface="Unbounded"/>
                <a:cs typeface="Unbounded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6841AB"/>
                </a:solidFill>
                <a:latin typeface="Unbounded"/>
                <a:ea typeface="Unbounded"/>
                <a:cs typeface="Unbounded"/>
              </a:defRPr>
            </a:pPr>
            <a:r>
              <a:rPr sz="1800" b="1">
                <a:solidFill>
                  <a:srgbClr val="6841AB"/>
                </a:solidFill>
                <a:latin typeface="Unbounded"/>
                <a:ea typeface="Unbounded"/>
                <a:cs typeface="Unbounded"/>
              </a:rPr>
              <a:t>Локально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7E1A16-0026-4E64-82EC-84A22521D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57600"/>
            <a:ext cx="2362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25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25212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5212B"/>
                </a:solidFill>
                <a:latin typeface="Arial"/>
                <a:ea typeface="Arial"/>
                <a:cs typeface="Arial"/>
              </a:rPr>
              <a:t>Попытки, черновики, закладки и история сохраняются в браузере.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64090D-A498-4787-AA65-71CD36E51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00350"/>
            <a:ext cx="30670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4E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C66E03-CE32-4BC4-97A1-0AF132150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1432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206"/>
          </a:bodyPr>
          <a:lstStyle xmlns:a="http://schemas.openxmlformats.org/drawingml/2006/main">
            <a:defPPr algn="l">
              <a:defRPr sz="1800" b="1">
                <a:solidFill>
                  <a:srgbClr val="005B64"/>
                </a:solidFill>
                <a:latin typeface="Unbounded"/>
                <a:ea typeface="Unbounded"/>
                <a:cs typeface="Unbounded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005B64"/>
                </a:solidFill>
                <a:latin typeface="Unbounded"/>
                <a:ea typeface="Unbounded"/>
                <a:cs typeface="Unbounded"/>
              </a:defRPr>
            </a:pPr>
            <a:r>
              <a:rPr sz="1800" b="1">
                <a:solidFill>
                  <a:srgbClr val="005B64"/>
                </a:solidFill>
                <a:latin typeface="Unbounded"/>
                <a:ea typeface="Unbounded"/>
                <a:cs typeface="Unbounded"/>
              </a:rPr>
              <a:t>Переносимо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1865BF-D70B-4D8C-A5DF-5612E6D04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657600"/>
            <a:ext cx="2362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25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25212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5212B"/>
                </a:solidFill>
                <a:latin typeface="Arial"/>
                <a:ea typeface="Arial"/>
                <a:cs typeface="Arial"/>
              </a:rPr>
              <a:t>JSON-резервная копия переносит историю между устройствами.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2B8690-95E2-4AF0-BF26-C67BFD819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800350"/>
            <a:ext cx="22669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4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B2DCD4-9FA3-4395-89C4-4F8844FC6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143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206"/>
          </a:bodyPr>
          <a:lstStyle xmlns:a="http://schemas.openxmlformats.org/drawingml/2006/main">
            <a:defPPr algn="l">
              <a:defRPr sz="1800" b="1">
                <a:solidFill>
                  <a:srgbClr val="465C16"/>
                </a:solidFill>
                <a:latin typeface="Unbounded"/>
                <a:ea typeface="Unbounded"/>
                <a:cs typeface="Unbounded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465C16"/>
                </a:solidFill>
                <a:latin typeface="Unbounded"/>
                <a:ea typeface="Unbounded"/>
                <a:cs typeface="Unbounded"/>
              </a:defRPr>
            </a:pPr>
            <a:r>
              <a:rPr sz="1800" b="1">
                <a:solidFill>
                  <a:srgbClr val="465C16"/>
                </a:solidFill>
                <a:latin typeface="Unbounded"/>
                <a:ea typeface="Unbounded"/>
                <a:cs typeface="Unbounded"/>
              </a:rPr>
              <a:t>Граница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EF5CD7-E391-4981-A735-BA8BF7605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657600"/>
            <a:ext cx="1676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451"/>
          </a:bodyPr>
          <a:lstStyle xmlns:a="http://schemas.openxmlformats.org/drawingml/2006/main">
            <a:defPPr algn="l">
              <a:defRPr sz="1350" b="0">
                <a:solidFill>
                  <a:srgbClr val="25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25212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5212B"/>
                </a:solidFill>
                <a:latin typeface="Arial"/>
                <a:ea typeface="Arial"/>
                <a:cs typeface="Arial"/>
              </a:rPr>
              <a:t>Другой банк вопросов делает старые сохранения несовместимыми.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4BC986-C48E-42E2-9112-27961CAB3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25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5212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212B"/>
                </a:solidFill>
                <a:latin typeface="Arial"/>
                <a:ea typeface="Arial"/>
                <a:cs typeface="Arial"/>
              </a:rPr>
              <a:t>Если браузер запрещает storage, сессия остаётся только в открытой вкладке.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12B6C1-1D0A-46DA-AD47-09A050CC3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825" b="0">
                <a:solidFill>
                  <a:srgbClr val="6863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68636F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8636F"/>
                </a:solidFill>
                <a:latin typeface="Arial"/>
                <a:ea typeface="Arial"/>
                <a:cs typeface="Arial"/>
              </a:rPr>
              <a:t>Тренажёр компетенций ИИ  ·  07</a:t>
            </a:r>
          </a:p>
        </p:txBody>
      </p:sp>
    </p:spTree>
    <p:extLst>
      <p:ext uri="{BB962C8B-B14F-4D97-AF65-F5344CB8AC3E}">
        <p14:creationId xmlns:p14="http://schemas.microsoft.com/office/powerpoint/2010/main" val="153954069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715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8665662-347A-49AB-A070-D35EA2A98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C5A8F2"/>
                </a:solidFill>
                <a:latin typeface="Unbounded"/>
                <a:ea typeface="Unbounded"/>
                <a:cs typeface="Unbounded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C5A8F2"/>
                </a:solidFill>
                <a:latin typeface="Unbounded"/>
                <a:ea typeface="Unbounded"/>
                <a:cs typeface="Unbounded"/>
              </a:defRPr>
            </a:pPr>
            <a:r>
              <a:rPr sz="975" b="1">
                <a:solidFill>
                  <a:srgbClr val="C5A8F2"/>
                </a:solidFill>
                <a:latin typeface="Unbounded"/>
                <a:ea typeface="Unbounded"/>
                <a:cs typeface="Unbounded"/>
              </a:rPr>
              <a:t>ДЛЯ АВТОРА И КОНТРИБЬЮТОРА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52DCD4-A297-4693-A644-355933994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8763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Unbounded"/>
                <a:ea typeface="Unbounded"/>
                <a:cs typeface="Unbounded"/>
              </a:defRPr>
            </a:defPPr>
          </a:lstStyle>
          <a:p xmlns:a="http://schemas.openxmlformats.org/drawingml/2006/main">
            <a:pPr algn="l">
              <a:lnSpc>
                <a:spcPct val="96000"/>
              </a:lnSpc>
              <a:buNone/>
              <a:defRPr sz="3000" b="1">
                <a:solidFill>
                  <a:srgbClr val="FFFFFF"/>
                </a:solidFill>
                <a:latin typeface="Unbounded"/>
                <a:ea typeface="Unbounded"/>
                <a:cs typeface="Unbounded"/>
              </a:defRPr>
            </a:pPr>
            <a:r>
              <a:rPr sz="3000" b="1">
                <a:solidFill>
                  <a:srgbClr val="FFFFFF"/>
                </a:solidFill>
                <a:latin typeface="Unbounded"/>
                <a:ea typeface="Unbounded"/>
                <a:cs typeface="Unbounded"/>
              </a:rPr>
              <a:t>Статический стек, короткий путь до запуска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671663-938E-46E4-AEBF-FC2107F2D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24000"/>
            <a:ext cx="800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697"/>
          </a:bodyPr>
          <a:lstStyle xmlns:a="http://schemas.openxmlformats.org/drawingml/2006/main">
            <a:defPPr algn="l">
              <a:defRPr sz="1500" b="0">
                <a:solidFill>
                  <a:srgbClr val="B9B0C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B9B0C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9B0C5"/>
                </a:solidFill>
                <a:latin typeface="Arial"/>
                <a:ea typeface="Arial"/>
                <a:cs typeface="Arial"/>
              </a:rPr>
              <a:t>Preact + htm + Vite собирают браузерное приложение из JavaScript, CSS, JSON-банка и локальных ресурсов.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A4D175-567B-4A47-9BAD-197B11B1E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209550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343C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97839A-1DCF-4FD0-B94B-8AF156841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718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D3E38C"/>
                </a:solidFill>
                <a:latin typeface="Unbounded"/>
                <a:ea typeface="Unbounded"/>
                <a:cs typeface="Unbounded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D3E38C"/>
                </a:solidFill>
                <a:latin typeface="Unbounded"/>
                <a:ea typeface="Unbounded"/>
                <a:cs typeface="Unbounded"/>
              </a:defRPr>
            </a:pPr>
            <a:r>
              <a:rPr sz="1500" b="1">
                <a:solidFill>
                  <a:srgbClr val="D3E38C"/>
                </a:solidFill>
                <a:latin typeface="Unbounded"/>
                <a:ea typeface="Unbounded"/>
                <a:cs typeface="Unbounded"/>
              </a:rPr>
              <a:t>src/data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B34866-5D08-44D4-9064-0F853FF26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9090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F2ED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F2EDF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2EDF8"/>
                </a:solidFill>
                <a:latin typeface="Arial"/>
                <a:ea typeface="Arial"/>
                <a:cs typeface="Arial"/>
              </a:rPr>
              <a:t>180 вопросов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F2EDF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2EDF8"/>
                </a:solidFill>
                <a:latin typeface="Arial"/>
                <a:ea typeface="Arial"/>
                <a:cs typeface="Arial"/>
              </a:rPr>
              <a:t>и метаданные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B3D00F-937A-4CBE-B0AB-EBBC204B0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371850"/>
            <a:ext cx="419100" cy="190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494152"/>
          </a:solidFill>
          <a:ln xmlns:a="http://schemas.openxmlformats.org/drawingml/2006/main" w="9525">
            <a:solidFill>
              <a:srgbClr val="49415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05212D-ADF2-46A1-B773-FD54F4571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3314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941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7448A3-C80F-45EB-9826-C32DDD3A2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724150"/>
            <a:ext cx="209550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273F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69D622-CF89-4C10-9ADE-2405B7E9C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9718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93D7D0"/>
                </a:solidFill>
                <a:latin typeface="Unbounded"/>
                <a:ea typeface="Unbounded"/>
                <a:cs typeface="Unbounded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93D7D0"/>
                </a:solidFill>
                <a:latin typeface="Unbounded"/>
                <a:ea typeface="Unbounded"/>
                <a:cs typeface="Unbounded"/>
              </a:defRPr>
            </a:pPr>
            <a:r>
              <a:rPr sz="1500" b="1">
                <a:solidFill>
                  <a:srgbClr val="93D7D0"/>
                </a:solidFill>
                <a:latin typeface="Unbounded"/>
                <a:ea typeface="Unbounded"/>
                <a:cs typeface="Unbounded"/>
              </a:rPr>
              <a:t>src/core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73CE32-CC9D-48E4-8CD7-AE608C23E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39090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F2ED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F2EDF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2EDF8"/>
                </a:solidFill>
                <a:latin typeface="Arial"/>
                <a:ea typeface="Arial"/>
                <a:cs typeface="Arial"/>
              </a:rPr>
              <a:t>экзамен · счёт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F2EDF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2EDF8"/>
                </a:solidFill>
                <a:latin typeface="Arial"/>
                <a:ea typeface="Arial"/>
                <a:cs typeface="Arial"/>
              </a:rPr>
              <a:t>· хранение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326AF2-3123-4957-A9A3-56A774615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371850"/>
            <a:ext cx="419100" cy="190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494152"/>
          </a:solidFill>
          <a:ln xmlns:a="http://schemas.openxmlformats.org/drawingml/2006/main" w="9525">
            <a:solidFill>
              <a:srgbClr val="49415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F5BD9A-5FFC-4781-978C-23D6BAA62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314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941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796BFF-A75C-4AED-BDD0-5EC1C3AC3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724150"/>
            <a:ext cx="209550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3B30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B4ADC3-D5E3-4AEC-B71B-0B6FA84A4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9718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C5A8F2"/>
                </a:solidFill>
                <a:latin typeface="Unbounded"/>
                <a:ea typeface="Unbounded"/>
                <a:cs typeface="Unbounded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C5A8F2"/>
                </a:solidFill>
                <a:latin typeface="Unbounded"/>
                <a:ea typeface="Unbounded"/>
                <a:cs typeface="Unbounded"/>
              </a:defRPr>
            </a:pPr>
            <a:r>
              <a:rPr sz="1200" b="1">
                <a:solidFill>
                  <a:srgbClr val="C5A8F2"/>
                </a:solidFill>
                <a:latin typeface="Unbounded"/>
                <a:ea typeface="Unbounded"/>
                <a:cs typeface="Unbounded"/>
              </a:rPr>
              <a:t>src/components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5B63A4-790B-45BE-8693-E336E055B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39090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F2ED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F2EDF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2EDF8"/>
                </a:solidFill>
                <a:latin typeface="Arial"/>
                <a:ea typeface="Arial"/>
                <a:cs typeface="Arial"/>
              </a:rPr>
              <a:t>экраны и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F2EDF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2EDF8"/>
                </a:solidFill>
                <a:latin typeface="Arial"/>
                <a:ea typeface="Arial"/>
                <a:cs typeface="Arial"/>
              </a:rPr>
              <a:t>взаимодействия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B16438-B1C4-4689-97DB-4D02E02D6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371850"/>
            <a:ext cx="419100" cy="190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494152"/>
          </a:solidFill>
          <a:ln xmlns:a="http://schemas.openxmlformats.org/drawingml/2006/main" w="9525">
            <a:solidFill>
              <a:srgbClr val="49415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BBC9E0-DBBE-4B1B-BDF0-12A4B395E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3314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941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439500-3ACE-455D-85D2-FB546597D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24150"/>
            <a:ext cx="209550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302B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68E95A-E284-4EED-8B4B-4F5C4F343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9718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F2EDF8"/>
                </a:solidFill>
                <a:latin typeface="Unbounded"/>
                <a:ea typeface="Unbounded"/>
                <a:cs typeface="Unbounded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F2EDF8"/>
                </a:solidFill>
                <a:latin typeface="Unbounded"/>
                <a:ea typeface="Unbounded"/>
                <a:cs typeface="Unbounded"/>
              </a:defRPr>
            </a:pPr>
            <a:r>
              <a:rPr sz="1500" b="1">
                <a:solidFill>
                  <a:srgbClr val="F2EDF8"/>
                </a:solidFill>
                <a:latin typeface="Unbounded"/>
                <a:ea typeface="Unbounded"/>
                <a:cs typeface="Unbounded"/>
              </a:rPr>
              <a:t>Vite → dist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F9E12E-9679-4C3A-876A-71451FB4E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39090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F2ED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F2EDF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2EDF8"/>
                </a:solidFill>
                <a:latin typeface="Arial"/>
                <a:ea typeface="Arial"/>
                <a:cs typeface="Arial"/>
              </a:rPr>
              <a:t>статическая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F2EDF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2EDF8"/>
                </a:solidFill>
                <a:latin typeface="Arial"/>
                <a:ea typeface="Arial"/>
                <a:cs typeface="Arial"/>
              </a:rPr>
              <a:t>публикация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71B548-0CC9-42F3-868C-5617A6A62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48577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2421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9864D4-3CB5-40C4-A81C-C6931EF73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7680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0188"/>
          </a:bodyPr>
          <a:lstStyle xmlns:a="http://schemas.openxmlformats.org/drawingml/2006/main">
            <a:defPPr algn="l">
              <a:defRPr sz="1650" b="1">
                <a:solidFill>
                  <a:srgbClr val="D3E38C"/>
                </a:solidFill>
                <a:latin typeface="Unbounded"/>
                <a:ea typeface="Unbounded"/>
                <a:cs typeface="Unbounded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D3E38C"/>
                </a:solidFill>
                <a:latin typeface="Unbounded"/>
                <a:ea typeface="Unbounded"/>
                <a:cs typeface="Unbounded"/>
              </a:defRPr>
            </a:pPr>
            <a:r>
              <a:rPr sz="1650" b="1">
                <a:solidFill>
                  <a:srgbClr val="D3E38C"/>
                </a:solidFill>
                <a:latin typeface="Unbounded"/>
                <a:ea typeface="Unbounded"/>
                <a:cs typeface="Unbounded"/>
              </a:rPr>
              <a:t>npm ci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D3E38C"/>
                </a:solidFill>
                <a:latin typeface="Unbounded"/>
                <a:ea typeface="Unbounded"/>
                <a:cs typeface="Unbounded"/>
              </a:defRPr>
            </a:pPr>
            <a:r>
              <a:rPr sz="1650" b="1">
                <a:solidFill>
                  <a:srgbClr val="D3E38C"/>
                </a:solidFill>
                <a:latin typeface="Unbounded"/>
                <a:ea typeface="Unbounded"/>
                <a:cs typeface="Unbounded"/>
              </a:rPr>
              <a:t>npm run dev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ADADCD-F4C1-4D81-A58F-8CA659CA5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0101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002"/>
          </a:bodyPr>
          <a:lstStyle xmlns:a="http://schemas.openxmlformats.org/drawingml/2006/main">
            <a:defPPr algn="l">
              <a:defRPr sz="1350" b="0">
                <a:solidFill>
                  <a:srgbClr val="B9B0C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B9B0C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9B0C5"/>
                </a:solidFill>
                <a:latin typeface="Arial"/>
                <a:ea typeface="Arial"/>
                <a:cs typeface="Arial"/>
              </a:rPr>
              <a:t>локальный запуск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6C2232F-6AA8-4E55-A5AF-DEA96DD96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686300"/>
            <a:ext cx="48577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2421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B7E128E-E5DB-4B20-A61D-4764950E9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9149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C5A8F2"/>
                </a:solidFill>
                <a:latin typeface="Unbounded"/>
                <a:ea typeface="Unbounded"/>
                <a:cs typeface="Unbounded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C5A8F2"/>
                </a:solidFill>
                <a:latin typeface="Unbounded"/>
                <a:ea typeface="Unbounded"/>
                <a:cs typeface="Unbounded"/>
              </a:defRPr>
            </a:pPr>
            <a:r>
              <a:rPr sz="1650" b="1">
                <a:solidFill>
                  <a:srgbClr val="C5A8F2"/>
                </a:solidFill>
                <a:latin typeface="Unbounded"/>
                <a:ea typeface="Unbounded"/>
                <a:cs typeface="Unbounded"/>
              </a:rPr>
              <a:t>npm run check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FB87BE0-9E34-4226-B3D5-113A8E8C2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2578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002"/>
          </a:bodyPr>
          <a:lstStyle xmlns:a="http://schemas.openxmlformats.org/drawingml/2006/main">
            <a:defPPr algn="l">
              <a:defRPr sz="1350" b="0">
                <a:solidFill>
                  <a:srgbClr val="B9B0C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B9B0C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9B0C5"/>
                </a:solidFill>
                <a:latin typeface="Arial"/>
                <a:ea typeface="Arial"/>
                <a:cs typeface="Arial"/>
              </a:rPr>
              <a:t>линты · банк · тесты · build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30AB53E-E974-49A9-B12A-5F06C13D2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6265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F2ED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F2EDF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2EDF8"/>
                </a:solidFill>
                <a:latin typeface="Arial"/>
                <a:ea typeface="Arial"/>
                <a:cs typeface="Arial"/>
              </a:rPr>
              <a:t>Сообщайте об ошибках и предлагайте изменения через GitHub Issues. Порядок участия описан в CONTRIBUTING.md.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F2C05A6-D4A1-48AB-9289-DBDEADB7F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825" b="0">
                <a:solidFill>
                  <a:srgbClr val="B9B0C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B9B0C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B9B0C5"/>
                </a:solidFill>
                <a:latin typeface="Arial"/>
                <a:ea typeface="Arial"/>
                <a:cs typeface="Arial"/>
              </a:rPr>
              <a:t>Тренажёр компетенций ИИ  ·  08</a:t>
            </a:r>
          </a:p>
        </p:txBody>
      </p:sp>
    </p:spTree>
    <p:extLst>
      <p:ext uri="{BB962C8B-B14F-4D97-AF65-F5344CB8AC3E}">
        <p14:creationId xmlns:p14="http://schemas.microsoft.com/office/powerpoint/2010/main" val="4259098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2026-10-11T10:32:54.7510000Z</dcterms:created>
  <dcterms:modified xsi:type="dcterms:W3CDTF">2026-10-11T10:32:54.7510000Z</dcterms:modified>
</coreProperties>
</file>